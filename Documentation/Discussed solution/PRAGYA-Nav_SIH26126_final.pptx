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PRAGYA-Nav: SAFER UGV NAVIGATION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PRAGYA-Nav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000" b="1"/>
              <a:t>PRAGYA-Nav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SIH26126  |  Vision-based, GPS-denied, terrain-aware outdoor UGV autonomy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280160"/>
            <a:ext cx="3611880" cy="347472"/>
          </a:xfrm>
          <a:prstGeom prst="roundRect">
            <a:avLst>
              <a:gd name="adj" fmla="val 18421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WHY NORMAL NAVIGATION FAILS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627632"/>
            <a:ext cx="3611880" cy="2057400"/>
          </a:xfrm>
          <a:prstGeom prst="roundRect">
            <a:avLst>
              <a:gd name="adj" fmla="val 3555"/>
            </a:avLst>
          </a:prstGeom>
          <a:solidFill>
            <a:srgbClr val="FDECEC"/>
          </a:solidFill>
          <a:ln w="12700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Oval 15364"/>
          <p:cNvSpPr/>
          <p:nvPr/>
        </p:nvSpPr>
        <p:spPr>
          <a:xfrm>
            <a:off x="475488" y="176479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868680" y="1700784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GPS unavailable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Position must come from vision + motion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475488" y="225856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68680" y="2194560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Unknown, uneven terrain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A detector sees a rock, not whether loose soil is driveable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475488" y="275234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68680" y="2688336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Uncertain vision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Light, shadow, rain and vibration degrade camera cues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475488" y="3246120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868680" y="3182112"/>
            <a:ext cx="306324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Shortest path can be unsafe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Mud, ditch, water-like patch, wheel slip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365760" y="3794760"/>
            <a:ext cx="3611880" cy="1024128"/>
          </a:xfrm>
          <a:prstGeom prst="roundRect">
            <a:avLst>
              <a:gd name="adj" fmla="val 7142"/>
            </a:avLst>
          </a:prstGeom>
          <a:solidFill>
            <a:srgbClr val="EAF2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411480" y="3822191"/>
            <a:ext cx="352044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OUR KEY IDEA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11480" y="4069080"/>
            <a:ext cx="3520440" cy="7315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500" b="0" i="0">
                <a:solidFill>
                  <a:srgbClr val="0B3A6E"/>
                </a:solidFill>
                <a:latin typeface="Calibri"/>
              </a:rPr>
              <a:t>The UGV combines what it </a:t>
            </a:r>
            <a:r>
              <a:rPr sz="1500" b="1" i="0">
                <a:solidFill>
                  <a:srgbClr val="0070C0"/>
                </a:solidFill>
                <a:latin typeface="Calibri"/>
              </a:rPr>
              <a:t>SEES</a:t>
            </a:r>
            <a:r>
              <a:rPr sz="1500" b="0" i="0">
                <a:solidFill>
                  <a:srgbClr val="0B3A6E"/>
                </a:solidFill>
                <a:latin typeface="Calibri"/>
              </a:rPr>
              <a:t> with what it </a:t>
            </a:r>
            <a:r>
              <a:rPr sz="1500" b="1" i="0">
                <a:solidFill>
                  <a:srgbClr val="E8730C"/>
                </a:solidFill>
                <a:latin typeface="Calibri"/>
              </a:rPr>
              <a:t>FEELS</a:t>
            </a:r>
            <a:r>
              <a:rPr sz="1500" b="0" i="0">
                <a:solidFill>
                  <a:srgbClr val="0B3A6E"/>
                </a:solidFill>
                <a:latin typeface="Calibri"/>
              </a:rPr>
              <a:t> while driving.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65760" y="4919472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wheel slip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1179576" y="4919472"/>
            <a:ext cx="731520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vibration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1975104" y="4919472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motor effort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2907792" y="4919472"/>
            <a:ext cx="1133856" cy="292608"/>
          </a:xfrm>
          <a:prstGeom prst="roundRect">
            <a:avLst>
              <a:gd name="adj" fmla="val 37500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E8730C"/>
                </a:solidFill>
                <a:latin typeface="Calibri"/>
              </a:rPr>
              <a:t>odometry error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65760" y="5440680"/>
            <a:ext cx="3611880" cy="777240"/>
          </a:xfrm>
          <a:prstGeom prst="roundRect">
            <a:avLst>
              <a:gd name="adj" fmla="val 9411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E8730C"/>
                </a:solidFill>
                <a:latin typeface="Calibri"/>
              </a:rPr>
              <a:t>Result: </a:t>
            </a:r>
            <a:r>
              <a:rPr sz="1300" b="1" i="0">
                <a:solidFill>
                  <a:srgbClr val="0B3A6E"/>
                </a:solidFill>
                <a:latin typeface="Calibri"/>
              </a:rPr>
              <a:t>the UGV selects the safest feasible route, not only the shortest route.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160520" y="1261872"/>
            <a:ext cx="41148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400" b="1" i="0">
                <a:solidFill>
                  <a:srgbClr val="0B3A6E"/>
                </a:solidFill>
                <a:latin typeface="Calibri"/>
              </a:rPr>
              <a:t>Same terrain, two decisions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4160520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4454434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ectangle 15383"/>
          <p:cNvSpPr/>
          <p:nvPr/>
        </p:nvSpPr>
        <p:spPr>
          <a:xfrm>
            <a:off x="4748348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ectangle 15384"/>
          <p:cNvSpPr/>
          <p:nvPr/>
        </p:nvSpPr>
        <p:spPr>
          <a:xfrm>
            <a:off x="5042262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ectangle 15385"/>
          <p:cNvSpPr/>
          <p:nvPr/>
        </p:nvSpPr>
        <p:spPr>
          <a:xfrm>
            <a:off x="5336177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ectangle 15386"/>
          <p:cNvSpPr/>
          <p:nvPr/>
        </p:nvSpPr>
        <p:spPr>
          <a:xfrm>
            <a:off x="5630091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ectangle 15387"/>
          <p:cNvSpPr/>
          <p:nvPr/>
        </p:nvSpPr>
        <p:spPr>
          <a:xfrm>
            <a:off x="5924005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ectangle 15388"/>
          <p:cNvSpPr/>
          <p:nvPr/>
        </p:nvSpPr>
        <p:spPr>
          <a:xfrm>
            <a:off x="6217920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Rectangle 15389"/>
          <p:cNvSpPr/>
          <p:nvPr/>
        </p:nvSpPr>
        <p:spPr>
          <a:xfrm>
            <a:off x="6511834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Rectangle 15390"/>
          <p:cNvSpPr/>
          <p:nvPr/>
        </p:nvSpPr>
        <p:spPr>
          <a:xfrm>
            <a:off x="6805748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ectangle 15391"/>
          <p:cNvSpPr/>
          <p:nvPr/>
        </p:nvSpPr>
        <p:spPr>
          <a:xfrm>
            <a:off x="7099662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Rectangle 15392"/>
          <p:cNvSpPr/>
          <p:nvPr/>
        </p:nvSpPr>
        <p:spPr>
          <a:xfrm>
            <a:off x="7393577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Rectangle 15393"/>
          <p:cNvSpPr/>
          <p:nvPr/>
        </p:nvSpPr>
        <p:spPr>
          <a:xfrm>
            <a:off x="7687491" y="1600200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Rectangle 15394"/>
          <p:cNvSpPr/>
          <p:nvPr/>
        </p:nvSpPr>
        <p:spPr>
          <a:xfrm>
            <a:off x="7981405" y="1600200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ectangle 15395"/>
          <p:cNvSpPr/>
          <p:nvPr/>
        </p:nvSpPr>
        <p:spPr>
          <a:xfrm>
            <a:off x="4160520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Rectangle 15396"/>
          <p:cNvSpPr/>
          <p:nvPr/>
        </p:nvSpPr>
        <p:spPr>
          <a:xfrm>
            <a:off x="4454434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Rectangle 15397"/>
          <p:cNvSpPr/>
          <p:nvPr/>
        </p:nvSpPr>
        <p:spPr>
          <a:xfrm>
            <a:off x="4748348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Rectangle 15398"/>
          <p:cNvSpPr/>
          <p:nvPr/>
        </p:nvSpPr>
        <p:spPr>
          <a:xfrm>
            <a:off x="5042262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Rectangle 15399"/>
          <p:cNvSpPr/>
          <p:nvPr/>
        </p:nvSpPr>
        <p:spPr>
          <a:xfrm>
            <a:off x="5336177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Rectangle 15400"/>
          <p:cNvSpPr/>
          <p:nvPr/>
        </p:nvSpPr>
        <p:spPr>
          <a:xfrm>
            <a:off x="5630091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Rectangle 15401"/>
          <p:cNvSpPr/>
          <p:nvPr/>
        </p:nvSpPr>
        <p:spPr>
          <a:xfrm>
            <a:off x="5924005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Rectangle 15402"/>
          <p:cNvSpPr/>
          <p:nvPr/>
        </p:nvSpPr>
        <p:spPr>
          <a:xfrm>
            <a:off x="6217920" y="1842516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Rectangle 15403"/>
          <p:cNvSpPr/>
          <p:nvPr/>
        </p:nvSpPr>
        <p:spPr>
          <a:xfrm>
            <a:off x="6511834" y="1842516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Rectangle 15404"/>
          <p:cNvSpPr/>
          <p:nvPr/>
        </p:nvSpPr>
        <p:spPr>
          <a:xfrm>
            <a:off x="6805748" y="1842516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6" name="Rectangle 15405"/>
          <p:cNvSpPr/>
          <p:nvPr/>
        </p:nvSpPr>
        <p:spPr>
          <a:xfrm>
            <a:off x="7099662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Rectangle 15406"/>
          <p:cNvSpPr/>
          <p:nvPr/>
        </p:nvSpPr>
        <p:spPr>
          <a:xfrm>
            <a:off x="7393577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Rectangle 15407"/>
          <p:cNvSpPr/>
          <p:nvPr/>
        </p:nvSpPr>
        <p:spPr>
          <a:xfrm>
            <a:off x="7687491" y="1842516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9" name="Rectangle 15408"/>
          <p:cNvSpPr/>
          <p:nvPr/>
        </p:nvSpPr>
        <p:spPr>
          <a:xfrm>
            <a:off x="7981405" y="184251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0" name="Rectangle 15409"/>
          <p:cNvSpPr/>
          <p:nvPr/>
        </p:nvSpPr>
        <p:spPr>
          <a:xfrm>
            <a:off x="4160520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Rectangle 15410"/>
          <p:cNvSpPr/>
          <p:nvPr/>
        </p:nvSpPr>
        <p:spPr>
          <a:xfrm>
            <a:off x="4454434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2" name="Rectangle 15411"/>
          <p:cNvSpPr/>
          <p:nvPr/>
        </p:nvSpPr>
        <p:spPr>
          <a:xfrm>
            <a:off x="4748348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3" name="Rectangle 15412"/>
          <p:cNvSpPr/>
          <p:nvPr/>
        </p:nvSpPr>
        <p:spPr>
          <a:xfrm>
            <a:off x="5042262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4" name="Rectangle 15413"/>
          <p:cNvSpPr/>
          <p:nvPr/>
        </p:nvSpPr>
        <p:spPr>
          <a:xfrm>
            <a:off x="5336177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5" name="Rectangle 15414"/>
          <p:cNvSpPr/>
          <p:nvPr/>
        </p:nvSpPr>
        <p:spPr>
          <a:xfrm>
            <a:off x="5630091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6" name="Rectangle 15415"/>
          <p:cNvSpPr/>
          <p:nvPr/>
        </p:nvSpPr>
        <p:spPr>
          <a:xfrm>
            <a:off x="5924005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7" name="Rectangle 15416"/>
          <p:cNvSpPr/>
          <p:nvPr/>
        </p:nvSpPr>
        <p:spPr>
          <a:xfrm>
            <a:off x="6217920" y="2084832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Rectangle 15417"/>
          <p:cNvSpPr/>
          <p:nvPr/>
        </p:nvSpPr>
        <p:spPr>
          <a:xfrm>
            <a:off x="6511834" y="2084832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9" name="Rectangle 15418"/>
          <p:cNvSpPr/>
          <p:nvPr/>
        </p:nvSpPr>
        <p:spPr>
          <a:xfrm>
            <a:off x="6805748" y="2084832"/>
            <a:ext cx="297571" cy="245973"/>
          </a:xfrm>
          <a:prstGeom prst="rect">
            <a:avLst/>
          </a:prstGeom>
          <a:solidFill>
            <a:srgbClr val="4FA3E0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0" name="Rectangle 15419"/>
          <p:cNvSpPr/>
          <p:nvPr/>
        </p:nvSpPr>
        <p:spPr>
          <a:xfrm>
            <a:off x="7099662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1" name="Rectangle 15420"/>
          <p:cNvSpPr/>
          <p:nvPr/>
        </p:nvSpPr>
        <p:spPr>
          <a:xfrm>
            <a:off x="7393577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2" name="Rectangle 15421"/>
          <p:cNvSpPr/>
          <p:nvPr/>
        </p:nvSpPr>
        <p:spPr>
          <a:xfrm>
            <a:off x="7687491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3" name="Rectangle 15422"/>
          <p:cNvSpPr/>
          <p:nvPr/>
        </p:nvSpPr>
        <p:spPr>
          <a:xfrm>
            <a:off x="7981405" y="208483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4" name="Rectangle 15423"/>
          <p:cNvSpPr/>
          <p:nvPr/>
        </p:nvSpPr>
        <p:spPr>
          <a:xfrm>
            <a:off x="4160520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5" name="Rectangle 15424"/>
          <p:cNvSpPr/>
          <p:nvPr/>
        </p:nvSpPr>
        <p:spPr>
          <a:xfrm>
            <a:off x="4454434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6" name="Rectangle 15425"/>
          <p:cNvSpPr/>
          <p:nvPr/>
        </p:nvSpPr>
        <p:spPr>
          <a:xfrm>
            <a:off x="4748348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7" name="Rectangle 15426"/>
          <p:cNvSpPr/>
          <p:nvPr/>
        </p:nvSpPr>
        <p:spPr>
          <a:xfrm>
            <a:off x="5042262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8" name="Rectangle 15427"/>
          <p:cNvSpPr/>
          <p:nvPr/>
        </p:nvSpPr>
        <p:spPr>
          <a:xfrm>
            <a:off x="5336177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9" name="Rectangle 15428"/>
          <p:cNvSpPr/>
          <p:nvPr/>
        </p:nvSpPr>
        <p:spPr>
          <a:xfrm>
            <a:off x="5630091" y="2327148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0" name="Rectangle 15429"/>
          <p:cNvSpPr/>
          <p:nvPr/>
        </p:nvSpPr>
        <p:spPr>
          <a:xfrm>
            <a:off x="5924005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1" name="Rectangle 15430"/>
          <p:cNvSpPr/>
          <p:nvPr/>
        </p:nvSpPr>
        <p:spPr>
          <a:xfrm>
            <a:off x="6217920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2" name="Rectangle 15431"/>
          <p:cNvSpPr/>
          <p:nvPr/>
        </p:nvSpPr>
        <p:spPr>
          <a:xfrm>
            <a:off x="6511834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3" name="Rectangle 15432"/>
          <p:cNvSpPr/>
          <p:nvPr/>
        </p:nvSpPr>
        <p:spPr>
          <a:xfrm>
            <a:off x="6805748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4" name="Rectangle 15433"/>
          <p:cNvSpPr/>
          <p:nvPr/>
        </p:nvSpPr>
        <p:spPr>
          <a:xfrm>
            <a:off x="7099662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5" name="Rectangle 15434"/>
          <p:cNvSpPr/>
          <p:nvPr/>
        </p:nvSpPr>
        <p:spPr>
          <a:xfrm>
            <a:off x="7393577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6" name="Rectangle 15435"/>
          <p:cNvSpPr/>
          <p:nvPr/>
        </p:nvSpPr>
        <p:spPr>
          <a:xfrm>
            <a:off x="7687491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7" name="Rectangle 15436"/>
          <p:cNvSpPr/>
          <p:nvPr/>
        </p:nvSpPr>
        <p:spPr>
          <a:xfrm>
            <a:off x="7981405" y="2327148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8" name="Rectangle 15437"/>
          <p:cNvSpPr/>
          <p:nvPr/>
        </p:nvSpPr>
        <p:spPr>
          <a:xfrm>
            <a:off x="4160520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9" name="Rectangle 15438"/>
          <p:cNvSpPr/>
          <p:nvPr/>
        </p:nvSpPr>
        <p:spPr>
          <a:xfrm>
            <a:off x="4454434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0" name="Rectangle 15439"/>
          <p:cNvSpPr/>
          <p:nvPr/>
        </p:nvSpPr>
        <p:spPr>
          <a:xfrm>
            <a:off x="4748348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1" name="Rectangle 15440"/>
          <p:cNvSpPr/>
          <p:nvPr/>
        </p:nvSpPr>
        <p:spPr>
          <a:xfrm>
            <a:off x="5042262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2" name="Rectangle 15441"/>
          <p:cNvSpPr/>
          <p:nvPr/>
        </p:nvSpPr>
        <p:spPr>
          <a:xfrm>
            <a:off x="5336177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3" name="Rectangle 15442"/>
          <p:cNvSpPr/>
          <p:nvPr/>
        </p:nvSpPr>
        <p:spPr>
          <a:xfrm>
            <a:off x="5630091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4" name="Rectangle 15443"/>
          <p:cNvSpPr/>
          <p:nvPr/>
        </p:nvSpPr>
        <p:spPr>
          <a:xfrm>
            <a:off x="5924005" y="2569464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5" name="Rectangle 15444"/>
          <p:cNvSpPr/>
          <p:nvPr/>
        </p:nvSpPr>
        <p:spPr>
          <a:xfrm>
            <a:off x="6217920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6" name="Rectangle 15445"/>
          <p:cNvSpPr/>
          <p:nvPr/>
        </p:nvSpPr>
        <p:spPr>
          <a:xfrm>
            <a:off x="6511834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7" name="Rectangle 15446"/>
          <p:cNvSpPr/>
          <p:nvPr/>
        </p:nvSpPr>
        <p:spPr>
          <a:xfrm>
            <a:off x="6805748" y="2569464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8" name="Rectangle 15447"/>
          <p:cNvSpPr/>
          <p:nvPr/>
        </p:nvSpPr>
        <p:spPr>
          <a:xfrm>
            <a:off x="7099662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9" name="Rectangle 15448"/>
          <p:cNvSpPr/>
          <p:nvPr/>
        </p:nvSpPr>
        <p:spPr>
          <a:xfrm>
            <a:off x="7393577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0" name="Rectangle 15449"/>
          <p:cNvSpPr/>
          <p:nvPr/>
        </p:nvSpPr>
        <p:spPr>
          <a:xfrm>
            <a:off x="7687491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1" name="Rectangle 15450"/>
          <p:cNvSpPr/>
          <p:nvPr/>
        </p:nvSpPr>
        <p:spPr>
          <a:xfrm>
            <a:off x="7981405" y="2569464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2" name="Rectangle 15451"/>
          <p:cNvSpPr/>
          <p:nvPr/>
        </p:nvSpPr>
        <p:spPr>
          <a:xfrm>
            <a:off x="4160520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3" name="Rectangle 15452"/>
          <p:cNvSpPr/>
          <p:nvPr/>
        </p:nvSpPr>
        <p:spPr>
          <a:xfrm>
            <a:off x="4454434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4" name="Rectangle 15453"/>
          <p:cNvSpPr/>
          <p:nvPr/>
        </p:nvSpPr>
        <p:spPr>
          <a:xfrm>
            <a:off x="4748348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5" name="Rectangle 15454"/>
          <p:cNvSpPr/>
          <p:nvPr/>
        </p:nvSpPr>
        <p:spPr>
          <a:xfrm>
            <a:off x="5042262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6" name="Rectangle 15455"/>
          <p:cNvSpPr/>
          <p:nvPr/>
        </p:nvSpPr>
        <p:spPr>
          <a:xfrm>
            <a:off x="5336177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7" name="Rectangle 15456"/>
          <p:cNvSpPr/>
          <p:nvPr/>
        </p:nvSpPr>
        <p:spPr>
          <a:xfrm>
            <a:off x="5630091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8" name="Rectangle 15457"/>
          <p:cNvSpPr/>
          <p:nvPr/>
        </p:nvSpPr>
        <p:spPr>
          <a:xfrm>
            <a:off x="5924005" y="2811780"/>
            <a:ext cx="297571" cy="245973"/>
          </a:xfrm>
          <a:prstGeom prst="rect">
            <a:avLst/>
          </a:prstGeom>
          <a:solidFill>
            <a:srgbClr val="6D4C2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9" name="Rectangle 15458"/>
          <p:cNvSpPr/>
          <p:nvPr/>
        </p:nvSpPr>
        <p:spPr>
          <a:xfrm>
            <a:off x="6217920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0" name="Rectangle 15459"/>
          <p:cNvSpPr/>
          <p:nvPr/>
        </p:nvSpPr>
        <p:spPr>
          <a:xfrm>
            <a:off x="6511834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1" name="Rectangle 15460"/>
          <p:cNvSpPr/>
          <p:nvPr/>
        </p:nvSpPr>
        <p:spPr>
          <a:xfrm>
            <a:off x="6805748" y="2811780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2" name="Rectangle 15461"/>
          <p:cNvSpPr/>
          <p:nvPr/>
        </p:nvSpPr>
        <p:spPr>
          <a:xfrm>
            <a:off x="7099662" y="2811780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3" name="Rectangle 15462"/>
          <p:cNvSpPr/>
          <p:nvPr/>
        </p:nvSpPr>
        <p:spPr>
          <a:xfrm>
            <a:off x="7393577" y="2811780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4" name="Rectangle 15463"/>
          <p:cNvSpPr/>
          <p:nvPr/>
        </p:nvSpPr>
        <p:spPr>
          <a:xfrm>
            <a:off x="7687491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5" name="Rectangle 15464"/>
          <p:cNvSpPr/>
          <p:nvPr/>
        </p:nvSpPr>
        <p:spPr>
          <a:xfrm>
            <a:off x="7981405" y="2811780"/>
            <a:ext cx="297571" cy="245973"/>
          </a:xfrm>
          <a:prstGeom prst="rect">
            <a:avLst/>
          </a:prstGeom>
          <a:solidFill>
            <a:srgbClr val="C9A27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6" name="Rectangle 15465"/>
          <p:cNvSpPr/>
          <p:nvPr/>
        </p:nvSpPr>
        <p:spPr>
          <a:xfrm>
            <a:off x="4160520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7" name="Rectangle 15466"/>
          <p:cNvSpPr/>
          <p:nvPr/>
        </p:nvSpPr>
        <p:spPr>
          <a:xfrm>
            <a:off x="4454434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8" name="Rectangle 15467"/>
          <p:cNvSpPr/>
          <p:nvPr/>
        </p:nvSpPr>
        <p:spPr>
          <a:xfrm>
            <a:off x="4748348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9" name="Rectangle 15468"/>
          <p:cNvSpPr/>
          <p:nvPr/>
        </p:nvSpPr>
        <p:spPr>
          <a:xfrm>
            <a:off x="5042262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0" name="Rectangle 15469"/>
          <p:cNvSpPr/>
          <p:nvPr/>
        </p:nvSpPr>
        <p:spPr>
          <a:xfrm>
            <a:off x="5336177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1" name="Rectangle 15470"/>
          <p:cNvSpPr/>
          <p:nvPr/>
        </p:nvSpPr>
        <p:spPr>
          <a:xfrm>
            <a:off x="5630091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2" name="Rectangle 15471"/>
          <p:cNvSpPr/>
          <p:nvPr/>
        </p:nvSpPr>
        <p:spPr>
          <a:xfrm>
            <a:off x="5924005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3" name="Rectangle 15472"/>
          <p:cNvSpPr/>
          <p:nvPr/>
        </p:nvSpPr>
        <p:spPr>
          <a:xfrm>
            <a:off x="6217920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4" name="Rectangle 15473"/>
          <p:cNvSpPr/>
          <p:nvPr/>
        </p:nvSpPr>
        <p:spPr>
          <a:xfrm>
            <a:off x="6511834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5" name="Rectangle 15474"/>
          <p:cNvSpPr/>
          <p:nvPr/>
        </p:nvSpPr>
        <p:spPr>
          <a:xfrm>
            <a:off x="6805748" y="3054096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6" name="Rectangle 15475"/>
          <p:cNvSpPr/>
          <p:nvPr/>
        </p:nvSpPr>
        <p:spPr>
          <a:xfrm>
            <a:off x="7099662" y="3054096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7" name="Rectangle 15476"/>
          <p:cNvSpPr/>
          <p:nvPr/>
        </p:nvSpPr>
        <p:spPr>
          <a:xfrm>
            <a:off x="7393577" y="3054096"/>
            <a:ext cx="297571" cy="245973"/>
          </a:xfrm>
          <a:prstGeom prst="rect">
            <a:avLst/>
          </a:prstGeom>
          <a:solidFill>
            <a:srgbClr val="BDBDB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8" name="Rectangle 15477"/>
          <p:cNvSpPr/>
          <p:nvPr/>
        </p:nvSpPr>
        <p:spPr>
          <a:xfrm>
            <a:off x="7687491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9" name="Rectangle 15478"/>
          <p:cNvSpPr/>
          <p:nvPr/>
        </p:nvSpPr>
        <p:spPr>
          <a:xfrm>
            <a:off x="7981405" y="3054096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0" name="Rectangle 15479"/>
          <p:cNvSpPr/>
          <p:nvPr/>
        </p:nvSpPr>
        <p:spPr>
          <a:xfrm>
            <a:off x="4160520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1" name="Rectangle 15480"/>
          <p:cNvSpPr/>
          <p:nvPr/>
        </p:nvSpPr>
        <p:spPr>
          <a:xfrm>
            <a:off x="4454434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2" name="Rectangle 15481"/>
          <p:cNvSpPr/>
          <p:nvPr/>
        </p:nvSpPr>
        <p:spPr>
          <a:xfrm>
            <a:off x="4748348" y="3296412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3" name="Rectangle 15482"/>
          <p:cNvSpPr/>
          <p:nvPr/>
        </p:nvSpPr>
        <p:spPr>
          <a:xfrm>
            <a:off x="5042262" y="3296412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4" name="Rectangle 15483"/>
          <p:cNvSpPr/>
          <p:nvPr/>
        </p:nvSpPr>
        <p:spPr>
          <a:xfrm>
            <a:off x="5336177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5" name="Rectangle 15484"/>
          <p:cNvSpPr/>
          <p:nvPr/>
        </p:nvSpPr>
        <p:spPr>
          <a:xfrm>
            <a:off x="5630091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6" name="Rectangle 15485"/>
          <p:cNvSpPr/>
          <p:nvPr/>
        </p:nvSpPr>
        <p:spPr>
          <a:xfrm>
            <a:off x="5924005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7" name="Rectangle 15486"/>
          <p:cNvSpPr/>
          <p:nvPr/>
        </p:nvSpPr>
        <p:spPr>
          <a:xfrm>
            <a:off x="6217920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8" name="Rectangle 15487"/>
          <p:cNvSpPr/>
          <p:nvPr/>
        </p:nvSpPr>
        <p:spPr>
          <a:xfrm>
            <a:off x="6511834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9" name="Rectangle 15488"/>
          <p:cNvSpPr/>
          <p:nvPr/>
        </p:nvSpPr>
        <p:spPr>
          <a:xfrm>
            <a:off x="6805748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0" name="Rectangle 15489"/>
          <p:cNvSpPr/>
          <p:nvPr/>
        </p:nvSpPr>
        <p:spPr>
          <a:xfrm>
            <a:off x="7099662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1" name="Rectangle 15490"/>
          <p:cNvSpPr/>
          <p:nvPr/>
        </p:nvSpPr>
        <p:spPr>
          <a:xfrm>
            <a:off x="7393577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2" name="Rectangle 15491"/>
          <p:cNvSpPr/>
          <p:nvPr/>
        </p:nvSpPr>
        <p:spPr>
          <a:xfrm>
            <a:off x="7687491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3" name="Rectangle 15492"/>
          <p:cNvSpPr/>
          <p:nvPr/>
        </p:nvSpPr>
        <p:spPr>
          <a:xfrm>
            <a:off x="7981405" y="3296412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4" name="Rectangle 15493"/>
          <p:cNvSpPr/>
          <p:nvPr/>
        </p:nvSpPr>
        <p:spPr>
          <a:xfrm>
            <a:off x="4160520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5" name="Rectangle 15494"/>
          <p:cNvSpPr/>
          <p:nvPr/>
        </p:nvSpPr>
        <p:spPr>
          <a:xfrm>
            <a:off x="4454434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6" name="Rectangle 15495"/>
          <p:cNvSpPr/>
          <p:nvPr/>
        </p:nvSpPr>
        <p:spPr>
          <a:xfrm>
            <a:off x="4748348" y="3538728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7" name="Rectangle 15496"/>
          <p:cNvSpPr/>
          <p:nvPr/>
        </p:nvSpPr>
        <p:spPr>
          <a:xfrm>
            <a:off x="5042262" y="3538728"/>
            <a:ext cx="297571" cy="245973"/>
          </a:xfrm>
          <a:prstGeom prst="rect">
            <a:avLst/>
          </a:prstGeom>
          <a:solidFill>
            <a:srgbClr val="5A5A5A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8" name="Rectangle 15497"/>
          <p:cNvSpPr/>
          <p:nvPr/>
        </p:nvSpPr>
        <p:spPr>
          <a:xfrm>
            <a:off x="5336177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9" name="Rectangle 15498"/>
          <p:cNvSpPr/>
          <p:nvPr/>
        </p:nvSpPr>
        <p:spPr>
          <a:xfrm>
            <a:off x="5630091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0" name="Rectangle 15499"/>
          <p:cNvSpPr/>
          <p:nvPr/>
        </p:nvSpPr>
        <p:spPr>
          <a:xfrm>
            <a:off x="5924005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1" name="Rectangle 15500"/>
          <p:cNvSpPr/>
          <p:nvPr/>
        </p:nvSpPr>
        <p:spPr>
          <a:xfrm>
            <a:off x="6217920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2" name="Rectangle 15501"/>
          <p:cNvSpPr/>
          <p:nvPr/>
        </p:nvSpPr>
        <p:spPr>
          <a:xfrm>
            <a:off x="6511834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3" name="Rectangle 15502"/>
          <p:cNvSpPr/>
          <p:nvPr/>
        </p:nvSpPr>
        <p:spPr>
          <a:xfrm>
            <a:off x="6805748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4" name="Rectangle 15503"/>
          <p:cNvSpPr/>
          <p:nvPr/>
        </p:nvSpPr>
        <p:spPr>
          <a:xfrm>
            <a:off x="7099662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5" name="Rectangle 15504"/>
          <p:cNvSpPr/>
          <p:nvPr/>
        </p:nvSpPr>
        <p:spPr>
          <a:xfrm>
            <a:off x="7393577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6" name="Rectangle 15505"/>
          <p:cNvSpPr/>
          <p:nvPr/>
        </p:nvSpPr>
        <p:spPr>
          <a:xfrm>
            <a:off x="7687491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7" name="Rectangle 15506"/>
          <p:cNvSpPr/>
          <p:nvPr/>
        </p:nvSpPr>
        <p:spPr>
          <a:xfrm>
            <a:off x="7981405" y="3538728"/>
            <a:ext cx="297571" cy="245973"/>
          </a:xfrm>
          <a:prstGeom prst="rect">
            <a:avLst/>
          </a:prstGeom>
          <a:solidFill>
            <a:srgbClr val="8CC15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307477" y="2690622"/>
            <a:ext cx="3820885" cy="0"/>
          </a:xfrm>
          <a:custGeom>
            <a:avLst/>
            <a:gdLst/>
            <a:ahLst/>
            <a:cxnLst/>
            <a:rect l="l" t="t" r="r" b="b"/>
            <a:pathLst>
              <a:path w="3820885" h="0">
                <a:moveTo>
                  <a:pt x="0" y="0"/>
                </a:moveTo>
                <a:lnTo>
                  <a:pt x="3820885" y="0"/>
                </a:lnTo>
              </a:path>
            </a:pathLst>
          </a:custGeom>
          <a:noFill/>
          <a:ln w="31750">
            <a:solidFill>
              <a:srgbClr val="E539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307477" y="2205990"/>
            <a:ext cx="3820885" cy="484632"/>
          </a:xfrm>
          <a:custGeom>
            <a:avLst/>
            <a:gdLst/>
            <a:ahLst/>
            <a:cxnLst/>
            <a:rect l="l" t="t" r="r" b="b"/>
            <a:pathLst>
              <a:path w="3820885" h="484632">
                <a:moveTo>
                  <a:pt x="0" y="484632"/>
                </a:moveTo>
                <a:lnTo>
                  <a:pt x="293914" y="242316"/>
                </a:lnTo>
                <a:lnTo>
                  <a:pt x="587828" y="0"/>
                </a:lnTo>
                <a:lnTo>
                  <a:pt x="1763485" y="0"/>
                </a:lnTo>
                <a:lnTo>
                  <a:pt x="2057400" y="242316"/>
                </a:lnTo>
                <a:lnTo>
                  <a:pt x="2939143" y="242316"/>
                </a:lnTo>
                <a:lnTo>
                  <a:pt x="3820885" y="484632"/>
                </a:lnTo>
              </a:path>
            </a:pathLst>
          </a:custGeom>
          <a:noFill/>
          <a:ln w="38100">
            <a:solidFill>
              <a:srgbClr val="0F7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8" name="Oval 15507"/>
          <p:cNvSpPr/>
          <p:nvPr/>
        </p:nvSpPr>
        <p:spPr>
          <a:xfrm>
            <a:off x="4225181" y="2608326"/>
            <a:ext cx="164592" cy="164592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9" name="5-Point Star 15508"/>
          <p:cNvSpPr/>
          <p:nvPr/>
        </p:nvSpPr>
        <p:spPr>
          <a:xfrm>
            <a:off x="8009490" y="2571750"/>
            <a:ext cx="237744" cy="237744"/>
          </a:xfrm>
          <a:prstGeom prst="star5">
            <a:avLst/>
          </a:prstGeom>
          <a:solidFill>
            <a:srgbClr val="FFC107"/>
          </a:solidFill>
          <a:ln w="9525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0" name="TextBox 15509"/>
          <p:cNvSpPr txBox="1"/>
          <p:nvPr/>
        </p:nvSpPr>
        <p:spPr>
          <a:xfrm>
            <a:off x="4142232" y="2793492"/>
            <a:ext cx="640080" cy="18288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5511" name="TextBox 15510"/>
          <p:cNvSpPr txBox="1"/>
          <p:nvPr/>
        </p:nvSpPr>
        <p:spPr>
          <a:xfrm>
            <a:off x="7708392" y="2327148"/>
            <a:ext cx="548640" cy="18288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/>
            <a:r>
              <a:rPr sz="900" b="1" i="0">
                <a:solidFill>
                  <a:srgbClr val="0B3A6E"/>
                </a:solidFill>
                <a:latin typeface="Calibri"/>
              </a:rPr>
              <a:t>GOAL</a:t>
            </a:r>
          </a:p>
        </p:txBody>
      </p:sp>
      <p:sp>
        <p:nvSpPr>
          <p:cNvPr id="15512" name="TextBox 15511"/>
          <p:cNvSpPr txBox="1"/>
          <p:nvPr/>
        </p:nvSpPr>
        <p:spPr>
          <a:xfrm>
            <a:off x="5042262" y="2825496"/>
            <a:ext cx="117565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mud: high slip risk</a:t>
            </a:r>
          </a:p>
        </p:txBody>
      </p:sp>
      <p:sp>
        <p:nvSpPr>
          <p:cNvPr id="15513" name="TextBox 15512"/>
          <p:cNvSpPr txBox="1"/>
          <p:nvPr/>
        </p:nvSpPr>
        <p:spPr>
          <a:xfrm>
            <a:off x="6217920" y="1879092"/>
            <a:ext cx="88174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water-like?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 confidence</a:t>
            </a:r>
          </a:p>
        </p:txBody>
      </p:sp>
      <p:sp>
        <p:nvSpPr>
          <p:cNvPr id="15514" name="Rectangle 15513"/>
          <p:cNvSpPr/>
          <p:nvPr/>
        </p:nvSpPr>
        <p:spPr>
          <a:xfrm>
            <a:off x="4160520" y="3840480"/>
            <a:ext cx="118872" cy="118872"/>
          </a:xfrm>
          <a:prstGeom prst="rect">
            <a:avLst/>
          </a:prstGeom>
          <a:solidFill>
            <a:srgbClr val="8CC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5" name="TextBox 15514"/>
          <p:cNvSpPr txBox="1"/>
          <p:nvPr/>
        </p:nvSpPr>
        <p:spPr>
          <a:xfrm>
            <a:off x="4297680" y="3785615"/>
            <a:ext cx="502919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Grass</a:t>
            </a:r>
          </a:p>
        </p:txBody>
      </p:sp>
      <p:sp>
        <p:nvSpPr>
          <p:cNvPr id="15516" name="Rectangle 15515"/>
          <p:cNvSpPr/>
          <p:nvPr/>
        </p:nvSpPr>
        <p:spPr>
          <a:xfrm>
            <a:off x="4800600" y="3840480"/>
            <a:ext cx="118872" cy="118872"/>
          </a:xfrm>
          <a:prstGeom prst="rect">
            <a:avLst/>
          </a:prstGeom>
          <a:solidFill>
            <a:srgbClr val="C9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7" name="TextBox 15516"/>
          <p:cNvSpPr txBox="1"/>
          <p:nvPr/>
        </p:nvSpPr>
        <p:spPr>
          <a:xfrm>
            <a:off x="4937760" y="3785615"/>
            <a:ext cx="429768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Soil</a:t>
            </a:r>
          </a:p>
        </p:txBody>
      </p:sp>
      <p:sp>
        <p:nvSpPr>
          <p:cNvPr id="15518" name="Rectangle 15517"/>
          <p:cNvSpPr/>
          <p:nvPr/>
        </p:nvSpPr>
        <p:spPr>
          <a:xfrm>
            <a:off x="5367528" y="3840480"/>
            <a:ext cx="118872" cy="1188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9" name="TextBox 15518"/>
          <p:cNvSpPr txBox="1"/>
          <p:nvPr/>
        </p:nvSpPr>
        <p:spPr>
          <a:xfrm>
            <a:off x="5504688" y="3785615"/>
            <a:ext cx="521207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Gravel</a:t>
            </a:r>
          </a:p>
        </p:txBody>
      </p:sp>
      <p:sp>
        <p:nvSpPr>
          <p:cNvPr id="15520" name="Rectangle 15519"/>
          <p:cNvSpPr/>
          <p:nvPr/>
        </p:nvSpPr>
        <p:spPr>
          <a:xfrm>
            <a:off x="6025896" y="3840480"/>
            <a:ext cx="118872" cy="118872"/>
          </a:xfrm>
          <a:prstGeom prst="rect">
            <a:avLst/>
          </a:prstGeom>
          <a:solidFill>
            <a:srgbClr val="6D4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1" name="TextBox 15520"/>
          <p:cNvSpPr txBox="1"/>
          <p:nvPr/>
        </p:nvSpPr>
        <p:spPr>
          <a:xfrm>
            <a:off x="6163056" y="3785615"/>
            <a:ext cx="411479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Mud</a:t>
            </a:r>
          </a:p>
        </p:txBody>
      </p:sp>
      <p:sp>
        <p:nvSpPr>
          <p:cNvPr id="15522" name="Rectangle 15521"/>
          <p:cNvSpPr/>
          <p:nvPr/>
        </p:nvSpPr>
        <p:spPr>
          <a:xfrm>
            <a:off x="6574536" y="3840480"/>
            <a:ext cx="118872" cy="118872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3" name="TextBox 15522"/>
          <p:cNvSpPr txBox="1"/>
          <p:nvPr/>
        </p:nvSpPr>
        <p:spPr>
          <a:xfrm>
            <a:off x="6711696" y="3785615"/>
            <a:ext cx="777240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Water-like?</a:t>
            </a:r>
          </a:p>
        </p:txBody>
      </p:sp>
      <p:sp>
        <p:nvSpPr>
          <p:cNvPr id="15524" name="Rectangle 15523"/>
          <p:cNvSpPr/>
          <p:nvPr/>
        </p:nvSpPr>
        <p:spPr>
          <a:xfrm>
            <a:off x="7488936" y="3840480"/>
            <a:ext cx="118872" cy="118872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5" name="TextBox 15524"/>
          <p:cNvSpPr txBox="1"/>
          <p:nvPr/>
        </p:nvSpPr>
        <p:spPr>
          <a:xfrm>
            <a:off x="7626096" y="3785615"/>
            <a:ext cx="411479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F5F70"/>
                </a:solidFill>
                <a:latin typeface="Calibri"/>
              </a:rPr>
              <a:t>Rock</a:t>
            </a:r>
          </a:p>
        </p:txBody>
      </p:sp>
      <p:sp>
        <p:nvSpPr>
          <p:cNvPr id="4" name="Freeform 3"/>
          <p:cNvSpPr/>
          <p:nvPr/>
        </p:nvSpPr>
        <p:spPr>
          <a:xfrm>
            <a:off x="4297680" y="411480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31750">
            <a:solidFill>
              <a:srgbClr val="E539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6" name="TextBox 15525"/>
          <p:cNvSpPr txBox="1"/>
          <p:nvPr/>
        </p:nvSpPr>
        <p:spPr>
          <a:xfrm>
            <a:off x="4709160" y="4023360"/>
            <a:ext cx="1645920" cy="201168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F5F70"/>
                </a:solidFill>
                <a:latin typeface="Calibri"/>
              </a:rPr>
              <a:t>Shortest path (unsafe)</a:t>
            </a:r>
          </a:p>
        </p:txBody>
      </p:sp>
      <p:sp>
        <p:nvSpPr>
          <p:cNvPr id="5" name="Freeform 4"/>
          <p:cNvSpPr/>
          <p:nvPr/>
        </p:nvSpPr>
        <p:spPr>
          <a:xfrm>
            <a:off x="6400800" y="411480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38100">
            <a:solidFill>
              <a:srgbClr val="0F7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7" name="TextBox 15526"/>
          <p:cNvSpPr txBox="1"/>
          <p:nvPr/>
        </p:nvSpPr>
        <p:spPr>
          <a:xfrm>
            <a:off x="6812280" y="4023360"/>
            <a:ext cx="1554480" cy="201168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F5F70"/>
                </a:solidFill>
                <a:latin typeface="Calibri"/>
              </a:rPr>
              <a:t>PRAGYA safest path</a:t>
            </a:r>
          </a:p>
        </p:txBody>
      </p:sp>
      <p:sp>
        <p:nvSpPr>
          <p:cNvPr id="15528" name="Rounded Rectangle 15527"/>
          <p:cNvSpPr/>
          <p:nvPr/>
        </p:nvSpPr>
        <p:spPr>
          <a:xfrm>
            <a:off x="4160520" y="4370832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Typical approach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“Obstacle detected → turn”</a:t>
            </a:r>
          </a:p>
        </p:txBody>
      </p:sp>
      <p:sp>
        <p:nvSpPr>
          <p:cNvPr id="15529" name="Right Arrow 15528"/>
          <p:cNvSpPr/>
          <p:nvPr/>
        </p:nvSpPr>
        <p:spPr>
          <a:xfrm>
            <a:off x="6053328" y="4572000"/>
            <a:ext cx="274320" cy="256032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0" name="Rounded Rectangle 15529"/>
          <p:cNvSpPr/>
          <p:nvPr/>
        </p:nvSpPr>
        <p:spPr>
          <a:xfrm>
            <a:off x="6391656" y="4370832"/>
            <a:ext cx="1883664" cy="658368"/>
          </a:xfrm>
          <a:prstGeom prst="roundRect">
            <a:avLst>
              <a:gd name="adj" fmla="val 11111"/>
            </a:avLst>
          </a:prstGeom>
          <a:solidFill>
            <a:srgbClr val="E8F5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1E8E3E"/>
                </a:solidFill>
                <a:latin typeface="Calibri"/>
              </a:rPr>
              <a:t>PRAGYA-Nav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“Is this terrain safe for my vehicle?”</a:t>
            </a:r>
          </a:p>
        </p:txBody>
      </p:sp>
      <p:sp>
        <p:nvSpPr>
          <p:cNvPr id="15531" name="Rectangle 15530"/>
          <p:cNvSpPr/>
          <p:nvPr/>
        </p:nvSpPr>
        <p:spPr>
          <a:xfrm>
            <a:off x="4160520" y="5138928"/>
            <a:ext cx="1097280" cy="265176"/>
          </a:xfrm>
          <a:prstGeom prst="rect">
            <a:avLst/>
          </a:prstGeom>
          <a:solidFill>
            <a:srgbClr val="0B3A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Terrain</a:t>
            </a:r>
          </a:p>
        </p:txBody>
      </p:sp>
      <p:sp>
        <p:nvSpPr>
          <p:cNvPr id="15532" name="Rectangle 15531"/>
          <p:cNvSpPr/>
          <p:nvPr/>
        </p:nvSpPr>
        <p:spPr>
          <a:xfrm>
            <a:off x="5257800" y="5138928"/>
            <a:ext cx="1554480" cy="265176"/>
          </a:xfrm>
          <a:prstGeom prst="rect">
            <a:avLst/>
          </a:prstGeom>
          <a:solidFill>
            <a:srgbClr val="0B3A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Traversability</a:t>
            </a:r>
          </a:p>
        </p:txBody>
      </p:sp>
      <p:sp>
        <p:nvSpPr>
          <p:cNvPr id="15533" name="Rectangle 15532"/>
          <p:cNvSpPr/>
          <p:nvPr/>
        </p:nvSpPr>
        <p:spPr>
          <a:xfrm>
            <a:off x="6812280" y="5138928"/>
            <a:ext cx="1463040" cy="265176"/>
          </a:xfrm>
          <a:prstGeom prst="rect">
            <a:avLst/>
          </a:prstGeom>
          <a:solidFill>
            <a:srgbClr val="0B3A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5534" name="Rectangle 15533"/>
          <p:cNvSpPr/>
          <p:nvPr/>
        </p:nvSpPr>
        <p:spPr>
          <a:xfrm>
            <a:off x="4160520" y="5413248"/>
            <a:ext cx="1097280" cy="265176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Grass</a:t>
            </a:r>
          </a:p>
        </p:txBody>
      </p:sp>
      <p:sp>
        <p:nvSpPr>
          <p:cNvPr id="15535" name="Rectangle 15534"/>
          <p:cNvSpPr/>
          <p:nvPr/>
        </p:nvSpPr>
        <p:spPr>
          <a:xfrm>
            <a:off x="5257800" y="5413248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HIGH</a:t>
            </a:r>
          </a:p>
        </p:txBody>
      </p:sp>
      <p:sp>
        <p:nvSpPr>
          <p:cNvPr id="15536" name="Rectangle 15535"/>
          <p:cNvSpPr/>
          <p:nvPr/>
        </p:nvSpPr>
        <p:spPr>
          <a:xfrm>
            <a:off x="6812280" y="5413248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HIGH</a:t>
            </a:r>
          </a:p>
        </p:txBody>
      </p:sp>
      <p:sp>
        <p:nvSpPr>
          <p:cNvPr id="15537" name="Rectangle 15536"/>
          <p:cNvSpPr/>
          <p:nvPr/>
        </p:nvSpPr>
        <p:spPr>
          <a:xfrm>
            <a:off x="4160520" y="5687568"/>
            <a:ext cx="1097280" cy="265176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Mud</a:t>
            </a:r>
          </a:p>
        </p:txBody>
      </p:sp>
      <p:sp>
        <p:nvSpPr>
          <p:cNvPr id="15538" name="Rectangle 15537"/>
          <p:cNvSpPr/>
          <p:nvPr/>
        </p:nvSpPr>
        <p:spPr>
          <a:xfrm>
            <a:off x="5257800" y="5687568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C62828"/>
                </a:solidFill>
                <a:latin typeface="Calibri"/>
              </a:rPr>
              <a:t>LOW</a:t>
            </a:r>
          </a:p>
        </p:txBody>
      </p:sp>
      <p:sp>
        <p:nvSpPr>
          <p:cNvPr id="15539" name="Rectangle 15538"/>
          <p:cNvSpPr/>
          <p:nvPr/>
        </p:nvSpPr>
        <p:spPr>
          <a:xfrm>
            <a:off x="6812280" y="5687568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HIGH</a:t>
            </a:r>
          </a:p>
        </p:txBody>
      </p:sp>
      <p:sp>
        <p:nvSpPr>
          <p:cNvPr id="15540" name="Rectangle 15539"/>
          <p:cNvSpPr/>
          <p:nvPr/>
        </p:nvSpPr>
        <p:spPr>
          <a:xfrm>
            <a:off x="4160520" y="5961888"/>
            <a:ext cx="1097280" cy="265176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Unknown</a:t>
            </a:r>
          </a:p>
        </p:txBody>
      </p:sp>
      <p:sp>
        <p:nvSpPr>
          <p:cNvPr id="15541" name="Rectangle 15540"/>
          <p:cNvSpPr/>
          <p:nvPr/>
        </p:nvSpPr>
        <p:spPr>
          <a:xfrm>
            <a:off x="5257800" y="5961888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4F5F70"/>
                </a:solidFill>
                <a:latin typeface="Calibri"/>
              </a:rPr>
              <a:t>UNKNOWN</a:t>
            </a:r>
          </a:p>
        </p:txBody>
      </p:sp>
      <p:sp>
        <p:nvSpPr>
          <p:cNvPr id="15542" name="Rectangle 15541"/>
          <p:cNvSpPr/>
          <p:nvPr/>
        </p:nvSpPr>
        <p:spPr>
          <a:xfrm>
            <a:off x="6812280" y="5961888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050" b="1" i="0">
                <a:solidFill>
                  <a:srgbClr val="C62828"/>
                </a:solidFill>
                <a:latin typeface="Calibri"/>
              </a:rPr>
              <a:t>LOW</a:t>
            </a:r>
          </a:p>
        </p:txBody>
      </p:sp>
      <p:sp>
        <p:nvSpPr>
          <p:cNvPr id="15543" name="Rounded Rectangle 15542"/>
          <p:cNvSpPr/>
          <p:nvPr/>
        </p:nvSpPr>
        <p:spPr>
          <a:xfrm>
            <a:off x="8458200" y="1280160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544" name="Rounded Rectangle 15543"/>
          <p:cNvSpPr/>
          <p:nvPr/>
        </p:nvSpPr>
        <p:spPr>
          <a:xfrm>
            <a:off x="8458200" y="1627632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5" name="TextBox 15544"/>
          <p:cNvSpPr txBox="1"/>
          <p:nvPr/>
        </p:nvSpPr>
        <p:spPr>
          <a:xfrm>
            <a:off x="8503920" y="1691640"/>
            <a:ext cx="3246120" cy="1920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 marL="137160" indent="-137160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>
                <a:solidFill>
                  <a:srgbClr val="1F2D3D"/>
                </a:solidFill>
                <a:latin typeface="Calibri"/>
              </a:rPr>
              <a:t>Camera-based terrain AI classifies soil, grass, gravel, mud and unknown patches</a:t>
            </a:r>
          </a:p>
          <a:p>
            <a:pPr algn="l" marL="137160" indent="-137160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>
                <a:solidFill>
                  <a:srgbClr val="1F2D3D"/>
                </a:solidFill>
                <a:latin typeface="Calibri"/>
              </a:rPr>
              <a:t>Every patch gets a risk score and a confidence value</a:t>
            </a:r>
          </a:p>
          <a:p>
            <a:pPr algn="l" marL="137160" indent="-137160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>
                <a:solidFill>
                  <a:srgbClr val="1F2D3D"/>
                </a:solidFill>
                <a:latin typeface="Calibri"/>
              </a:rPr>
              <a:t>Planner picks the safest feasible route and reroutes live</a:t>
            </a:r>
          </a:p>
          <a:p>
            <a:pPr algn="l" marL="137160" indent="-137160">
              <a:spcAft>
                <a:spcPts val="700"/>
              </a:spcAft>
              <a:buClr>
                <a:srgbClr val="0070C0"/>
              </a:buClr>
              <a:buChar char="•"/>
            </a:pPr>
            <a:r>
              <a:rPr sz="1250" b="0" i="0">
                <a:solidFill>
                  <a:srgbClr val="1F2D3D"/>
                </a:solidFill>
                <a:latin typeface="Calibri"/>
              </a:rPr>
              <a:t>Runs fully offline; no GPS needed</a:t>
            </a:r>
          </a:p>
        </p:txBody>
      </p:sp>
      <p:sp>
        <p:nvSpPr>
          <p:cNvPr id="15546" name="Rounded Rectangle 15545"/>
          <p:cNvSpPr/>
          <p:nvPr/>
        </p:nvSpPr>
        <p:spPr>
          <a:xfrm>
            <a:off x="8458200" y="3749039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547" name="Rounded Rectangle 15546"/>
          <p:cNvSpPr/>
          <p:nvPr/>
        </p:nvSpPr>
        <p:spPr>
          <a:xfrm>
            <a:off x="8458200" y="4096512"/>
            <a:ext cx="3337560" cy="2121408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8" name="TextBox 15547"/>
          <p:cNvSpPr txBox="1"/>
          <p:nvPr/>
        </p:nvSpPr>
        <p:spPr>
          <a:xfrm>
            <a:off x="8503920" y="4160520"/>
            <a:ext cx="3246120" cy="2011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 marL="137160" indent="-137160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>
                <a:solidFill>
                  <a:srgbClr val="0B3A6E"/>
                </a:solidFill>
                <a:latin typeface="Calibri"/>
              </a:rPr>
              <a:t>Learns from physical driving experience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 (proposed approach)</a:t>
            </a:r>
          </a:p>
          <a:p>
            <a:pPr algn="l" marL="137160" indent="-137160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>
                <a:solidFill>
                  <a:srgbClr val="0B3A6E"/>
                </a:solidFill>
                <a:latin typeface="Calibri"/>
              </a:rPr>
              <a:t>Confidence gate: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 unsure → slow or stop</a:t>
            </a:r>
          </a:p>
          <a:p>
            <a:pPr algn="l" marL="137160" indent="-137160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>
                <a:solidFill>
                  <a:srgbClr val="0B3A6E"/>
                </a:solidFill>
                <a:latin typeface="Calibri"/>
              </a:rPr>
              <a:t>Risk-aware costmap,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 not just obstacles</a:t>
            </a:r>
          </a:p>
          <a:p>
            <a:pPr algn="l" marL="137160" indent="-137160">
              <a:spcAft>
                <a:spcPts val="1000"/>
              </a:spcAft>
              <a:buClr>
                <a:srgbClr val="1E8E3E"/>
              </a:buClr>
              <a:buChar char="•"/>
            </a:pPr>
            <a:r>
              <a:rPr sz="1250" b="1" i="0">
                <a:solidFill>
                  <a:srgbClr val="0B3A6E"/>
                </a:solidFill>
                <a:latin typeface="Calibri"/>
              </a:rPr>
              <a:t>Explainable:</a:t>
            </a:r>
            <a:r>
              <a:rPr sz="1250" b="0" i="0">
                <a:solidFill>
                  <a:srgbClr val="1F2D3D"/>
                </a:solidFill>
                <a:latin typeface="Calibri"/>
              </a:rPr>
              <a:t> shows why it slowed or rerouted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PRAGYA-Nav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000" b="1"/>
              <a:t>PRAGYA-Nav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Closed loop:  SEE → LOCATE → ASSESS → PLAN → ACT → LEARN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 SEE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93192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Camera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terrain segmentation + obstacle detection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130551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2304288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0A8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2304288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0A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 LOCATE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331720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Visual-inertial localization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VIO / SLAM + wheel odometry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4069080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242816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4242816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 ASSESS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270248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Risk + confidence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for each ground patch → risk-aware costmap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6007608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181344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81344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  PLAN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08776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Safest route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A* / D* Lite on the costmap, live rerouting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7946136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8119872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8119872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  ACT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147304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Motor control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safety check before every command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9884664" y="1993391"/>
            <a:ext cx="146304" cy="237744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10058400" y="128016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10058400" y="1280160"/>
            <a:ext cx="1737360" cy="347472"/>
          </a:xfrm>
          <a:prstGeom prst="roundRect">
            <a:avLst>
              <a:gd name="adj" fmla="val 21052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 LEARN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0085832" y="1664207"/>
            <a:ext cx="1682495" cy="877824"/>
          </a:xfrm>
          <a:prstGeom prst="rect">
            <a:avLst/>
          </a:prstGeom>
          <a:noFill/>
        </p:spPr>
        <p:txBody>
          <a:bodyPr wrap="square" lIns="54864" tIns="18288" rIns="54864" bIns="0" anchor="t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Vehicle feedback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slip, vibration, motor effort, odometry mismatch</a:t>
            </a:r>
          </a:p>
        </p:txBody>
      </p:sp>
      <p:sp>
        <p:nvSpPr>
          <p:cNvPr id="2" name="Freeform 1"/>
          <p:cNvSpPr/>
          <p:nvPr/>
        </p:nvSpPr>
        <p:spPr>
          <a:xfrm>
            <a:off x="5111496" y="2560320"/>
            <a:ext cx="5815584" cy="164592"/>
          </a:xfrm>
          <a:custGeom>
            <a:avLst/>
            <a:gdLst/>
            <a:ahLst/>
            <a:cxnLst/>
            <a:rect l="l" t="t" r="r" b="b"/>
            <a:pathLst>
              <a:path w="5815584" h="164592">
                <a:moveTo>
                  <a:pt x="5815584" y="0"/>
                </a:moveTo>
                <a:lnTo>
                  <a:pt x="5815584" y="164592"/>
                </a:lnTo>
                <a:lnTo>
                  <a:pt x="0" y="164592"/>
                </a:lnTo>
                <a:lnTo>
                  <a:pt x="0" y="18288"/>
                </a:lnTo>
              </a:path>
            </a:pathLst>
          </a:custGeom>
          <a:noFill/>
          <a:ln w="28575">
            <a:solidFill>
              <a:srgbClr val="E8730C"/>
            </a:solidFill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5294376" y="2743200"/>
            <a:ext cx="5449824" cy="23774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100" b="1" i="1">
                <a:solidFill>
                  <a:srgbClr val="E8730C"/>
                </a:solidFill>
                <a:latin typeface="Calibri"/>
              </a:rPr>
              <a:t>learned terrain experience feeds back into ASSESS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3063240"/>
            <a:ext cx="3749039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IT SEES + WHAT IT FEELS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65760" y="3392424"/>
            <a:ext cx="3749039" cy="2093976"/>
          </a:xfrm>
          <a:prstGeom prst="roundRect">
            <a:avLst>
              <a:gd name="adj" fmla="val 3493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457200" y="3483864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0070C0"/>
                </a:solidFill>
                <a:latin typeface="Calibri"/>
              </a:rPr>
              <a:t>SEES</a:t>
            </a:r>
          </a:p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Camera → terrain + obstacle information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130552" y="377647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4F5F70"/>
                </a:solidFill>
                <a:latin typeface="Calibri"/>
              </a:rPr>
              <a:t>+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423160" y="3483864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E8730C"/>
                </a:solidFill>
                <a:latin typeface="Calibri"/>
              </a:rPr>
              <a:t>FEELS</a:t>
            </a:r>
          </a:p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IMU · wheel odometry · motor effort · slip · vibration</a:t>
            </a:r>
          </a:p>
        </p:txBody>
      </p:sp>
      <p:sp>
        <p:nvSpPr>
          <p:cNvPr id="17440" name="Down Arrow 17439"/>
          <p:cNvSpPr/>
          <p:nvPr/>
        </p:nvSpPr>
        <p:spPr>
          <a:xfrm>
            <a:off x="2103120" y="4480560"/>
            <a:ext cx="274320" cy="182880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457200" y="4690872"/>
            <a:ext cx="3566160" cy="329184"/>
          </a:xfrm>
          <a:prstGeom prst="roundRect">
            <a:avLst>
              <a:gd name="adj" fmla="val 22222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Terrain experience → Risk + Confidence</a:t>
            </a:r>
          </a:p>
        </p:txBody>
      </p:sp>
      <p:sp>
        <p:nvSpPr>
          <p:cNvPr id="17442" name="Down Arrow 17441"/>
          <p:cNvSpPr/>
          <p:nvPr/>
        </p:nvSpPr>
        <p:spPr>
          <a:xfrm>
            <a:off x="2103120" y="5047488"/>
            <a:ext cx="274320" cy="128016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457200" y="5166360"/>
            <a:ext cx="3566160" cy="256032"/>
          </a:xfrm>
          <a:prstGeom prst="roundRect">
            <a:avLst>
              <a:gd name="adj" fmla="val 28571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Planning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251960" y="3063240"/>
            <a:ext cx="3749039" cy="329184"/>
          </a:xfrm>
          <a:prstGeom prst="roundRect">
            <a:avLst>
              <a:gd name="adj" fmla="val 19444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SELF-SUPERVISED TERRAIN EXPERIENCE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251960" y="3392424"/>
            <a:ext cx="3749039" cy="2093976"/>
          </a:xfrm>
          <a:prstGeom prst="roundRect">
            <a:avLst>
              <a:gd name="adj" fmla="val 3493"/>
            </a:avLst>
          </a:prstGeom>
          <a:solidFill>
            <a:srgbClr val="FFF1E3"/>
          </a:solidFill>
          <a:ln w="12700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4343400" y="347472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645152" y="346557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See terrain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4343400" y="377190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645152" y="376275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Drive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4343400" y="406908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645152" y="405993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Observe vehicle response: slip, vibration, motor effort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4343400" y="436626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645152" y="435711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Update terrain risk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4343400" y="466344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4645152" y="465429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Store experience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4343400" y="4960620"/>
            <a:ext cx="237744" cy="237744"/>
          </a:xfrm>
          <a:prstGeom prst="ellipse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645152" y="4951476"/>
            <a:ext cx="32461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0C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Use in future planning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4297680" y="5239512"/>
            <a:ext cx="36576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4F5F70"/>
                </a:solidFill>
                <a:latin typeface="Calibri"/>
              </a:rPr>
              <a:t>Proposed approach · learns how terrain behaves under its own motion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138160" y="3063240"/>
            <a:ext cx="3657600" cy="329184"/>
          </a:xfrm>
          <a:prstGeom prst="roundRect">
            <a:avLst>
              <a:gd name="adj" fmla="val 19444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CONFIDENCE GATE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138160" y="3392424"/>
            <a:ext cx="3657600" cy="2093976"/>
          </a:xfrm>
          <a:prstGeom prst="roundRect">
            <a:avLst>
              <a:gd name="adj" fmla="val 3493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8869680" y="348386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LOW CONFIDENCE</a:t>
            </a:r>
          </a:p>
        </p:txBody>
      </p:sp>
      <p:sp>
        <p:nvSpPr>
          <p:cNvPr id="17462" name="Down Arrow 17461"/>
          <p:cNvSpPr/>
          <p:nvPr/>
        </p:nvSpPr>
        <p:spPr>
          <a:xfrm>
            <a:off x="9857232" y="375818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8869680" y="384962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SLOW DOWN</a:t>
            </a:r>
          </a:p>
        </p:txBody>
      </p:sp>
      <p:sp>
        <p:nvSpPr>
          <p:cNvPr id="17464" name="Down Arrow 17463"/>
          <p:cNvSpPr/>
          <p:nvPr/>
        </p:nvSpPr>
        <p:spPr>
          <a:xfrm>
            <a:off x="9857232" y="412394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8869680" y="421538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RE-OBSERVE</a:t>
            </a:r>
          </a:p>
        </p:txBody>
      </p:sp>
      <p:sp>
        <p:nvSpPr>
          <p:cNvPr id="17466" name="Down Arrow 17465"/>
          <p:cNvSpPr/>
          <p:nvPr/>
        </p:nvSpPr>
        <p:spPr>
          <a:xfrm>
            <a:off x="9857232" y="448970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Rounded Rectangle 17466"/>
          <p:cNvSpPr/>
          <p:nvPr/>
        </p:nvSpPr>
        <p:spPr>
          <a:xfrm>
            <a:off x="8869680" y="458114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REPLAN</a:t>
            </a:r>
          </a:p>
        </p:txBody>
      </p:sp>
      <p:sp>
        <p:nvSpPr>
          <p:cNvPr id="17468" name="Down Arrow 17467"/>
          <p:cNvSpPr/>
          <p:nvPr/>
        </p:nvSpPr>
        <p:spPr>
          <a:xfrm>
            <a:off x="9857232" y="4855464"/>
            <a:ext cx="219456" cy="91440"/>
          </a:xfrm>
          <a:prstGeom prst="down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Rounded Rectangle 17468"/>
          <p:cNvSpPr/>
          <p:nvPr/>
        </p:nvSpPr>
        <p:spPr>
          <a:xfrm>
            <a:off x="8869680" y="494690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SAFE ACTION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183879" y="52578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4F5F70"/>
                </a:solidFill>
                <a:latin typeface="Calibri"/>
              </a:rPr>
              <a:t>Glare, shadow or rain lowers confidence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365760" y="5623560"/>
            <a:ext cx="1737360" cy="594360"/>
          </a:xfrm>
          <a:prstGeom prst="roundRect">
            <a:avLst>
              <a:gd name="adj" fmla="val 12307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PLANNED TECH STACK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22402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Python · OpenCV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38404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Small segmentation + detection model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54406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ONNX / TensorRT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70408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Visual-inertial + wheel odometry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86410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A* / D* Lite · ROS 2 Nav2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10241280" y="5623560"/>
            <a:ext cx="1508760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/>
            <a:r>
              <a:rPr sz="1050" b="1" i="0">
                <a:solidFill>
                  <a:srgbClr val="0B3A6E"/>
                </a:solidFill>
                <a:latin typeface="Calibri"/>
              </a:rPr>
              <a:t>Jetson / Pi · IMU · encoders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PRAGYA-Nav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000" b="1"/>
              <a:t>PRAGYA-Nav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A focused MVP that we can build, test and demonstrate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4572000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WE WILL BUILD (MVP)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609344"/>
            <a:ext cx="1463040" cy="2048256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 w="1587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6093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1920240"/>
            <a:ext cx="1426464" cy="1719072"/>
          </a:xfrm>
          <a:prstGeom prst="rect">
            <a:avLst/>
          </a:prstGeom>
          <a:noFill/>
        </p:spPr>
        <p:txBody>
          <a:bodyPr wrap="square" lIns="45720" tIns="18288" rIns="18288" bIns="0" anchor="t">
            <a:spAutoFit/>
          </a:bodyPr>
          <a:lstStyle/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Terrain segmentation</a:t>
            </a:r>
          </a:p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Obstacle / person detection</a:t>
            </a:r>
          </a:p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VIO + wheel odometry</a:t>
            </a:r>
          </a:p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Risk costmap + D* Lite</a:t>
            </a:r>
          </a:p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Dynamic rerouting</a:t>
            </a:r>
          </a:p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Slip / vibration risk score</a:t>
            </a:r>
          </a:p>
          <a:p>
            <a:pPr algn="l" marL="137160" indent="-137160">
              <a:spcAft>
                <a:spcPts val="1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Safe stop + dashboard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920240" y="1609344"/>
            <a:ext cx="1463040" cy="2048256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5875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1920240" y="16093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SHOULD HAVE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938528" y="1920240"/>
            <a:ext cx="1426464" cy="1719072"/>
          </a:xfrm>
          <a:prstGeom prst="rect">
            <a:avLst/>
          </a:prstGeom>
          <a:noFill/>
        </p:spPr>
        <p:txBody>
          <a:bodyPr wrap="square" lIns="45720" tIns="18288" rIns="18288" bIns="0" anchor="t">
            <a:spAutoFit/>
          </a:bodyPr>
          <a:lstStyle/>
          <a:p>
            <a:pPr algn="l" marL="137160" indent="-137160">
              <a:spcAft>
                <a:spcPts val="100"/>
              </a:spcAft>
              <a:buClr>
                <a:srgbClr val="D98A0B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Terrain memory</a:t>
            </a:r>
          </a:p>
          <a:p>
            <a:pPr algn="l" marL="137160" indent="-137160">
              <a:spcAft>
                <a:spcPts val="100"/>
              </a:spcAft>
              <a:buClr>
                <a:srgbClr val="D98A0B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Confidence visualization</a:t>
            </a:r>
          </a:p>
          <a:p>
            <a:pPr algn="l" marL="137160" indent="-137160">
              <a:spcAft>
                <a:spcPts val="100"/>
              </a:spcAft>
              <a:buClr>
                <a:srgbClr val="D98A0B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Live dashboard with reason for slow / reroute / stop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74720" y="1609344"/>
            <a:ext cx="1463040" cy="204825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4F5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3474720" y="1609344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4F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493008" y="1920240"/>
            <a:ext cx="1426464" cy="1719072"/>
          </a:xfrm>
          <a:prstGeom prst="rect">
            <a:avLst/>
          </a:prstGeom>
          <a:noFill/>
        </p:spPr>
        <p:txBody>
          <a:bodyPr wrap="square" lIns="45720" tIns="18288" rIns="18288" bIns="0" anchor="t">
            <a:spAutoFit/>
          </a:bodyPr>
          <a:lstStyle/>
          <a:p>
            <a:pPr algn="l" marL="137160" indent="-137160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Advanced self-supervised learning</a:t>
            </a:r>
          </a:p>
          <a:p>
            <a:pPr algn="l" marL="137160" indent="-137160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Thermal / radar fallback</a:t>
            </a:r>
          </a:p>
          <a:p>
            <a:pPr algn="l" marL="137160" indent="-137160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Multi-UGV shared maps</a:t>
            </a:r>
          </a:p>
          <a:p>
            <a:pPr algn="l" marL="137160" indent="-137160">
              <a:spcAft>
                <a:spcPts val="100"/>
              </a:spcAft>
              <a:buClr>
                <a:srgbClr val="4F5F70"/>
              </a:buClr>
              <a:buChar char="•"/>
            </a:pPr>
            <a:r>
              <a:rPr sz="1050" b="0" i="0">
                <a:solidFill>
                  <a:srgbClr val="1F2D3D"/>
                </a:solidFill>
                <a:latin typeface="Calibri"/>
              </a:rPr>
              <a:t>Large-scale deployment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120640" y="1280160"/>
            <a:ext cx="3200400" cy="329184"/>
          </a:xfrm>
          <a:prstGeom prst="roundRect">
            <a:avLst>
              <a:gd name="adj" fmla="val 19444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PROTOTYPE HARDWARE (PROPOSED)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120640" y="1609344"/>
            <a:ext cx="3200400" cy="2048256"/>
          </a:xfrm>
          <a:prstGeom prst="roundRect">
            <a:avLst>
              <a:gd name="adj" fmla="val 3571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212080" y="17007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0070C0"/>
                </a:solidFill>
                <a:latin typeface="Calibri"/>
              </a:rPr>
              <a:t>Stereo / RGB camera</a:t>
            </a:r>
          </a:p>
          <a:p>
            <a:pPr algn="ctr"/>
            <a:r>
              <a:rPr sz="1000" b="0" i="0">
                <a:solidFill>
                  <a:srgbClr val="4F5F70"/>
                </a:solidFill>
                <a:latin typeface="Calibri"/>
              </a:rPr>
              <a:t>primary vision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766560" y="17007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E8730C"/>
                </a:solidFill>
                <a:latin typeface="Calibri"/>
              </a:rPr>
              <a:t>IMU + encoders</a:t>
            </a:r>
          </a:p>
          <a:p>
            <a:pPr algn="ctr"/>
            <a:r>
              <a:rPr sz="1000" b="0" i="0">
                <a:solidFill>
                  <a:srgbClr val="4F5F70"/>
                </a:solidFill>
                <a:latin typeface="Calibri"/>
              </a:rPr>
              <a:t>motion feedback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6583680" y="2286000"/>
            <a:ext cx="274320" cy="182880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5212080" y="2487168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Jetson / Pi edge computer</a:t>
            </a:r>
          </a:p>
          <a:p>
            <a:pPr algn="ctr"/>
            <a:r>
              <a:rPr sz="1000" b="0" i="0">
                <a:solidFill>
                  <a:srgbClr val="DCE8F5"/>
                </a:solidFill>
                <a:latin typeface="Calibri"/>
              </a:rPr>
              <a:t>ROS 2 · AI + localization · Nav2 planner</a:t>
            </a:r>
          </a:p>
        </p:txBody>
      </p:sp>
      <p:sp>
        <p:nvSpPr>
          <p:cNvPr id="17427" name="Down Arrow 17426"/>
          <p:cNvSpPr/>
          <p:nvPr/>
        </p:nvSpPr>
        <p:spPr>
          <a:xfrm>
            <a:off x="6583680" y="3081528"/>
            <a:ext cx="274320" cy="164592"/>
          </a:xfrm>
          <a:prstGeom prst="down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5212080" y="3264408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1E8E3E"/>
                </a:solidFill>
                <a:latin typeface="Calibri"/>
              </a:rPr>
              <a:t>Motor driver + E-stop  →  UGV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458200" y="1280160"/>
            <a:ext cx="3337560" cy="329184"/>
          </a:xfrm>
          <a:prstGeom prst="roundRect">
            <a:avLst>
              <a:gd name="adj" fmla="val 19444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SAFETY SUPERVISOR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458200" y="1609344"/>
            <a:ext cx="3337560" cy="2048256"/>
          </a:xfrm>
          <a:prstGeom prst="roundRect">
            <a:avLst>
              <a:gd name="adj" fmla="val 3571"/>
            </a:avLst>
          </a:prstGeom>
          <a:solidFill>
            <a:srgbClr val="FDECEC"/>
          </a:solidFill>
          <a:ln w="12700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8531352" y="1682496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9838944" y="1773936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10012680" y="1682496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27432" bIns="0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Normal speed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531352" y="2075688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 CONFIDENCE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9838944" y="2167128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10012680" y="2075688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D9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27432" bIns="0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Slow + re-observe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531352" y="2468880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 RISK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9838944" y="2560320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10012680" y="2468880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27432" bIns="0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Crawl + replan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531352" y="2862072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9838944" y="2953512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10012680" y="2862072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27432" bIns="0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Controlled stop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531352" y="3255264"/>
            <a:ext cx="1280160" cy="329184"/>
          </a:xfrm>
          <a:prstGeom prst="roundRect">
            <a:avLst>
              <a:gd name="adj" fmla="val 16666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17444" name="Right Arrow 17443"/>
          <p:cNvSpPr/>
          <p:nvPr/>
        </p:nvSpPr>
        <p:spPr>
          <a:xfrm>
            <a:off x="9838944" y="3346704"/>
            <a:ext cx="146304" cy="146304"/>
          </a:xfrm>
          <a:prstGeom prst="rightArrow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10012680" y="3255264"/>
            <a:ext cx="1719072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1430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27432" bIns="0"/>
          <a:lstStyle/>
          <a:p>
            <a:pPr algn="l"/>
            <a:r>
              <a:rPr sz="1000" b="1" i="0">
                <a:solidFill>
                  <a:srgbClr val="1F2D3D"/>
                </a:solidFill>
                <a:latin typeface="Calibri"/>
              </a:rPr>
              <a:t>Relocalize / return / operator help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65760" y="3794760"/>
            <a:ext cx="6675120" cy="274320"/>
          </a:xfrm>
          <a:prstGeom prst="roundRect">
            <a:avLst>
              <a:gd name="adj" fmla="val 23333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MAIN RISK  →  OUR MITIGATION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65760" y="4096512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Glare / shadows</a:t>
            </a:r>
          </a:p>
        </p:txBody>
      </p:sp>
      <p:sp>
        <p:nvSpPr>
          <p:cNvPr id="17448" name="Right Arrow 17447"/>
          <p:cNvSpPr/>
          <p:nvPr/>
        </p:nvSpPr>
        <p:spPr>
          <a:xfrm>
            <a:off x="2048256" y="4123944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2267712" y="4096512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Use confidence score; slow, crawl or stop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365760" y="4329684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SLAM tracking loss</a:t>
            </a:r>
          </a:p>
        </p:txBody>
      </p:sp>
      <p:sp>
        <p:nvSpPr>
          <p:cNvPr id="17451" name="Right Arrow 17450"/>
          <p:cNvSpPr/>
          <p:nvPr/>
        </p:nvSpPr>
        <p:spPr>
          <a:xfrm>
            <a:off x="2048256" y="4357116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2267712" y="4329684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Relocalize; use IMU + encoders; last-safe-point recovery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365760" y="4562856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Unknown terrain</a:t>
            </a:r>
          </a:p>
        </p:txBody>
      </p:sp>
      <p:sp>
        <p:nvSpPr>
          <p:cNvPr id="17454" name="Right Arrow 17453"/>
          <p:cNvSpPr/>
          <p:nvPr/>
        </p:nvSpPr>
        <p:spPr>
          <a:xfrm>
            <a:off x="2048256" y="4590288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2267712" y="4562856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Mark as high risk; never enter blindly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365760" y="4796028"/>
            <a:ext cx="1645920" cy="214884"/>
          </a:xfrm>
          <a:prstGeom prst="roundRect">
            <a:avLst>
              <a:gd name="adj" fmla="val 12765"/>
            </a:avLst>
          </a:prstGeom>
          <a:solidFill>
            <a:srgbClr val="FDECEC"/>
          </a:solidFill>
          <a:ln w="9525">
            <a:solidFill>
              <a:srgbClr val="E7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Slow compute</a:t>
            </a:r>
          </a:p>
        </p:txBody>
      </p:sp>
      <p:sp>
        <p:nvSpPr>
          <p:cNvPr id="17457" name="Right Arrow 17456"/>
          <p:cNvSpPr/>
          <p:nvPr/>
        </p:nvSpPr>
        <p:spPr>
          <a:xfrm>
            <a:off x="2048256" y="4823460"/>
            <a:ext cx="182880" cy="155448"/>
          </a:xfrm>
          <a:prstGeom prst="rightArrow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ounded Rectangle 17457"/>
          <p:cNvSpPr/>
          <p:nvPr/>
        </p:nvSpPr>
        <p:spPr>
          <a:xfrm>
            <a:off x="2267712" y="4796028"/>
            <a:ext cx="4773168" cy="214884"/>
          </a:xfrm>
          <a:prstGeom prst="roundRect">
            <a:avLst>
              <a:gd name="adj" fmla="val 12765"/>
            </a:avLst>
          </a:prstGeom>
          <a:solidFill>
            <a:srgbClr val="E8F5EC"/>
          </a:solidFill>
          <a:ln w="9525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Small model + ONNX / TensorRT optimization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223760" y="3794760"/>
            <a:ext cx="4572000" cy="274320"/>
          </a:xfrm>
          <a:prstGeom prst="roundRect">
            <a:avLst>
              <a:gd name="adj" fmla="val 23333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BUILD ROADMAP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237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Perception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81381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0A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Localization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90525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Planning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99669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D9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Terrain learning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881360" y="4114800"/>
            <a:ext cx="859536" cy="475488"/>
          </a:xfrm>
          <a:prstGeom prst="roundRect">
            <a:avLst>
              <a:gd name="adj" fmla="val 11538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Field test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7223760" y="466344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45720" bIns="0"/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Safe-response triggers: </a:t>
            </a:r>
            <a:r>
              <a:rPr sz="1000" b="0" i="0">
                <a:solidFill>
                  <a:srgbClr val="1F2D3D"/>
                </a:solidFill>
                <a:latin typeface="Calibri"/>
              </a:rPr>
              <a:t>SLAM lost · human detected · ditch · high slip · low confidence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365760" y="5166360"/>
            <a:ext cx="1600200" cy="1051560"/>
          </a:xfrm>
          <a:prstGeom prst="roundRect">
            <a:avLst>
              <a:gd name="adj" fmla="val 6956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FLOW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illustrative scenario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2103120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01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Normal terrain</a:t>
            </a:r>
          </a:p>
        </p:txBody>
      </p:sp>
      <p:sp>
        <p:nvSpPr>
          <p:cNvPr id="17468" name="Right Arrow 17467"/>
          <p:cNvSpPr/>
          <p:nvPr/>
        </p:nvSpPr>
        <p:spPr>
          <a:xfrm>
            <a:off x="3404833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Rounded Rectangle 17468"/>
          <p:cNvSpPr/>
          <p:nvPr/>
        </p:nvSpPr>
        <p:spPr>
          <a:xfrm>
            <a:off x="3500845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02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Obstacle / risky terrain appears</a:t>
            </a:r>
          </a:p>
        </p:txBody>
      </p:sp>
      <p:sp>
        <p:nvSpPr>
          <p:cNvPr id="17470" name="Right Arrow 17469"/>
          <p:cNvSpPr/>
          <p:nvPr/>
        </p:nvSpPr>
        <p:spPr>
          <a:xfrm>
            <a:off x="4802559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Rounded Rectangle 17470"/>
          <p:cNvSpPr/>
          <p:nvPr/>
        </p:nvSpPr>
        <p:spPr>
          <a:xfrm>
            <a:off x="4898571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03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Perception identifies terrain</a:t>
            </a:r>
          </a:p>
        </p:txBody>
      </p:sp>
      <p:sp>
        <p:nvSpPr>
          <p:cNvPr id="17472" name="Right Arrow 17471"/>
          <p:cNvSpPr/>
          <p:nvPr/>
        </p:nvSpPr>
        <p:spPr>
          <a:xfrm>
            <a:off x="6200285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ounded Rectangle 17472"/>
          <p:cNvSpPr/>
          <p:nvPr/>
        </p:nvSpPr>
        <p:spPr>
          <a:xfrm>
            <a:off x="6296297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04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Risk score changes</a:t>
            </a:r>
          </a:p>
        </p:txBody>
      </p:sp>
      <p:sp>
        <p:nvSpPr>
          <p:cNvPr id="17474" name="Right Arrow 17473"/>
          <p:cNvSpPr/>
          <p:nvPr/>
        </p:nvSpPr>
        <p:spPr>
          <a:xfrm>
            <a:off x="7598010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ounded Rectangle 17474"/>
          <p:cNvSpPr/>
          <p:nvPr/>
        </p:nvSpPr>
        <p:spPr>
          <a:xfrm>
            <a:off x="7694022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05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Planner picks safer route</a:t>
            </a:r>
          </a:p>
        </p:txBody>
      </p:sp>
      <p:sp>
        <p:nvSpPr>
          <p:cNvPr id="17476" name="Right Arrow 17475"/>
          <p:cNvSpPr/>
          <p:nvPr/>
        </p:nvSpPr>
        <p:spPr>
          <a:xfrm>
            <a:off x="8995736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Rounded Rectangle 17476"/>
          <p:cNvSpPr/>
          <p:nvPr/>
        </p:nvSpPr>
        <p:spPr>
          <a:xfrm>
            <a:off x="9091748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06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UGV moves</a:t>
            </a:r>
          </a:p>
        </p:txBody>
      </p:sp>
      <p:sp>
        <p:nvSpPr>
          <p:cNvPr id="17478" name="Right Arrow 17477"/>
          <p:cNvSpPr/>
          <p:nvPr/>
        </p:nvSpPr>
        <p:spPr>
          <a:xfrm>
            <a:off x="10393462" y="5641848"/>
            <a:ext cx="100584" cy="146304"/>
          </a:xfrm>
          <a:prstGeom prst="rightArrow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Rounded Rectangle 17478"/>
          <p:cNvSpPr/>
          <p:nvPr/>
        </p:nvSpPr>
        <p:spPr>
          <a:xfrm>
            <a:off x="10489474" y="5166360"/>
            <a:ext cx="1306285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07</a:t>
            </a:r>
          </a:p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Vehicle feedback updates terrain experience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PRAGYA-Nav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000" b="1"/>
              <a:t>PRAGYA-Nav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Why PRAGYA-Nav matters beyond the SIH demo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3931920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WHERE IT HELPS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68249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rIns="45720" bIns="18288"/>
          <a:lstStyle/>
          <a:p>
            <a:pPr algn="l"/>
            <a:r>
              <a:rPr sz="1250" b="1" i="0">
                <a:solidFill>
                  <a:srgbClr val="C62828"/>
                </a:solidFill>
                <a:latin typeface="Calibri"/>
              </a:rPr>
              <a:t>Search &amp; Rescue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Floods, forest, rubble, low visibility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228600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0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rIns="45720" bIns="18288"/>
          <a:lstStyle/>
          <a:p>
            <a:pPr algn="l"/>
            <a:r>
              <a:rPr sz="1250" b="1" i="0">
                <a:solidFill>
                  <a:srgbClr val="0B3A6E"/>
                </a:solidFill>
                <a:latin typeface="Calibri"/>
              </a:rPr>
              <a:t>Defence Logistics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GPS-denied, communication-limited terrain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88950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rIns="45720" bIns="18288"/>
          <a:lstStyle/>
          <a:p>
            <a:pPr algn="l"/>
            <a:r>
              <a:rPr sz="1250" b="1" i="0">
                <a:solidFill>
                  <a:srgbClr val="1E8E3E"/>
                </a:solidFill>
                <a:latin typeface="Calibri"/>
              </a:rPr>
              <a:t>Agriculture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Uneven soil, crop rows, irrigation channels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3493008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rIns="45720" bIns="18288"/>
          <a:lstStyle/>
          <a:p>
            <a:pPr algn="l"/>
            <a:r>
              <a:rPr sz="1250" b="1" i="0">
                <a:solidFill>
                  <a:srgbClr val="E8730C"/>
                </a:solidFill>
                <a:latin typeface="Calibri"/>
              </a:rPr>
              <a:t>Industrial Inspection</a:t>
            </a:r>
          </a:p>
          <a:p>
            <a:pPr algn="l"/>
            <a:r>
              <a:rPr sz="1100" b="0" i="0">
                <a:solidFill>
                  <a:srgbClr val="4F5F70"/>
                </a:solidFill>
                <a:latin typeface="Calibri"/>
              </a:rPr>
              <a:t>Mines, solar farms, construction sites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4187952"/>
            <a:ext cx="3931920" cy="329184"/>
          </a:xfrm>
          <a:prstGeom prst="roundRect">
            <a:avLst>
              <a:gd name="adj" fmla="val 19444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BENEFITS WE CAN PROVE IN FIELD TESTING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4553712"/>
            <a:ext cx="3931920" cy="1691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 marL="137160" indent="-13716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>
                <a:solidFill>
                  <a:srgbClr val="0B3A6E"/>
                </a:solidFill>
                <a:latin typeface="Calibri"/>
              </a:rPr>
              <a:t>Safety:</a:t>
            </a:r>
            <a:r>
              <a:rPr sz="1150" b="0" i="0">
                <a:solidFill>
                  <a:srgbClr val="1F2D3D"/>
                </a:solidFill>
                <a:latin typeface="Calibri"/>
              </a:rPr>
              <a:t> avoids uncertain or high-slip terrain</a:t>
            </a:r>
          </a:p>
          <a:p>
            <a:pPr algn="l" marL="137160" indent="-13716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>
                <a:solidFill>
                  <a:srgbClr val="0B3A6E"/>
                </a:solidFill>
                <a:latin typeface="Calibri"/>
              </a:rPr>
              <a:t>Reliability:</a:t>
            </a:r>
            <a:r>
              <a:rPr sz="1150" b="0" i="0">
                <a:solidFill>
                  <a:srgbClr val="1F2D3D"/>
                </a:solidFill>
                <a:latin typeface="Calibri"/>
              </a:rPr>
              <a:t> GPS-free local navigation and rerouting</a:t>
            </a:r>
          </a:p>
          <a:p>
            <a:pPr algn="l" marL="137160" indent="-13716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>
                <a:solidFill>
                  <a:srgbClr val="0B3A6E"/>
                </a:solidFill>
                <a:latin typeface="Calibri"/>
              </a:rPr>
              <a:t>Adaptability:</a:t>
            </a:r>
            <a:r>
              <a:rPr sz="1150" b="0" i="0">
                <a:solidFill>
                  <a:srgbClr val="1F2D3D"/>
                </a:solidFill>
                <a:latin typeface="Calibri"/>
              </a:rPr>
              <a:t> learns terrain behaviour for this vehicle</a:t>
            </a:r>
          </a:p>
          <a:p>
            <a:pPr algn="l" marL="137160" indent="-13716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>
                <a:solidFill>
                  <a:srgbClr val="0B3A6E"/>
                </a:solidFill>
                <a:latin typeface="Calibri"/>
              </a:rPr>
              <a:t>Explainability:</a:t>
            </a:r>
            <a:r>
              <a:rPr sz="1150" b="0" i="0">
                <a:solidFill>
                  <a:srgbClr val="1F2D3D"/>
                </a:solidFill>
                <a:latin typeface="Calibri"/>
              </a:rPr>
              <a:t> dashboard states why it slowed or rerouted</a:t>
            </a:r>
          </a:p>
          <a:p>
            <a:pPr algn="l" marL="137160" indent="-13716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1150" b="1" i="0">
                <a:solidFill>
                  <a:srgbClr val="0B3A6E"/>
                </a:solidFill>
                <a:latin typeface="Calibri"/>
              </a:rPr>
              <a:t>Scalability:</a:t>
            </a:r>
            <a:r>
              <a:rPr sz="1150" b="0" i="0">
                <a:solidFill>
                  <a:srgbClr val="1F2D3D"/>
                </a:solidFill>
                <a:latin typeface="Calibri"/>
              </a:rPr>
              <a:t> works offline; reusable on many UGV platforms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26280" y="1280160"/>
            <a:ext cx="7269480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TYPICAL VISION-ONLY UGV  vs  PRAGYA-Nav (PROPOSED)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526280" y="1645920"/>
            <a:ext cx="2148840" cy="324612"/>
          </a:xfrm>
          <a:prstGeom prst="rect">
            <a:avLst/>
          </a:prstGeom>
          <a:solidFill>
            <a:srgbClr val="5B6B7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675120" y="1645920"/>
            <a:ext cx="2240280" cy="324612"/>
          </a:xfrm>
          <a:prstGeom prst="rect">
            <a:avLst/>
          </a:prstGeom>
          <a:solidFill>
            <a:srgbClr val="C6282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Typical vision-only UGV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8915400" y="1645920"/>
            <a:ext cx="2880360" cy="324612"/>
          </a:xfrm>
          <a:prstGeom prst="rect">
            <a:avLst/>
          </a:prstGeom>
          <a:solidFill>
            <a:srgbClr val="1E8E3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PRAGYA-Nav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4526280" y="1970532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GPS dependency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675120" y="1970532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Often GPS / map assisted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915400" y="1970532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Designed for GPS-denied operation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526280" y="2295144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Terrain awareness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6675120" y="2295144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Obstacle level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8915400" y="2295144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Terrain class + risk per patch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4526280" y="2619756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Risk estimation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6675120" y="2619756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Distance / obstacle cost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8915400" y="2619756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Terrain risk inside the costmap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4526280" y="2944368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Confidence estimation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6675120" y="2944368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Usually not used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8915400" y="2944368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Per-patch confidence gate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4526280" y="3268980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Vehicle feedback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6675120" y="3268980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Odometry for pose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8915400" y="3268980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Slip, vibration, motor effort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4526280" y="3593591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Dynamic rerouting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6675120" y="3593591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Obstacle-driven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8915400" y="3593591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Risk-driven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526280" y="3918204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Learning from driving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6675120" y="3918204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Typically none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8915400" y="3918204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Terrain experience (proposed)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526280" y="4242816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Safe-stop mechanism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6675120" y="4242816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E-stop / bumper stop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8915400" y="4242816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Supervisor: slow, crawl, controlled stop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4526280" y="4567428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Uncertainty handling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6675120" y="4567428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Limited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8915400" y="4567428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Slows, re-observes, replans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4526280" y="4892040"/>
            <a:ext cx="2148840" cy="324612"/>
          </a:xfrm>
          <a:prstGeom prst="rect">
            <a:avLst/>
          </a:prstGeom>
          <a:solidFill>
            <a:srgbClr val="F4F7FA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1" i="0">
                <a:solidFill>
                  <a:srgbClr val="0B3A6E"/>
                </a:solidFill>
                <a:latin typeface="Calibri"/>
              </a:rPr>
              <a:t>Offline / edge capability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675120" y="4892040"/>
            <a:ext cx="2240280" cy="324612"/>
          </a:xfrm>
          <a:prstGeom prst="rect">
            <a:avLst/>
          </a:prstGeom>
          <a:solidFill>
            <a:srgbClr val="FDEC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Varies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8915400" y="4892040"/>
            <a:ext cx="2880360" cy="324612"/>
          </a:xfrm>
          <a:prstGeom prst="rect">
            <a:avLst/>
          </a:prstGeom>
          <a:solidFill>
            <a:srgbClr val="E8F5EC"/>
          </a:solidFill>
          <a:ln w="635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Edge compute, fully offline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526280" y="5234940"/>
            <a:ext cx="7269480" cy="22860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4F5F70"/>
                </a:solidFill>
                <a:latin typeface="Calibri"/>
              </a:rPr>
              <a:t>Qualitative design comparison by our team; to be validated with field-test data.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526280" y="5486400"/>
            <a:ext cx="7269480" cy="347472"/>
          </a:xfrm>
          <a:prstGeom prst="roundRect">
            <a:avLst>
              <a:gd name="adj" fmla="val 21052"/>
            </a:avLst>
          </a:prstGeom>
          <a:solidFill>
            <a:srgbClr val="FFF1E3"/>
          </a:solidFill>
          <a:ln w="12700">
            <a:solidFill>
              <a:srgbClr val="E87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E8730C"/>
                </a:solidFill>
                <a:latin typeface="Calibri"/>
              </a:rPr>
              <a:t>FUTURE SCOPE:  </a:t>
            </a:r>
            <a:r>
              <a:rPr sz="1100" b="0" i="0">
                <a:solidFill>
                  <a:srgbClr val="1F2D3D"/>
                </a:solidFill>
                <a:latin typeface="Calibri"/>
              </a:rPr>
              <a:t>Thermal / radar fallback  ·  Multi-UGV shared terrain maps  ·  Active learning from field data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526280" y="5888736"/>
            <a:ext cx="7269480" cy="365760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Mission outcome: </a:t>
            </a:r>
            <a:r>
              <a:rPr sz="1100" b="1" i="0">
                <a:solidFill>
                  <a:srgbClr val="0B3A6E"/>
                </a:solidFill>
                <a:latin typeface="Calibri"/>
              </a:rPr>
              <a:t>safer autonomous movement where maps, GPS and predictable roads cannot be assumed.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PRAGYA-Nav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000" b="1"/>
              <a:t>PRAGYA-Nav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1680" y="896112"/>
            <a:ext cx="758952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0" i="1">
                <a:solidFill>
                  <a:srgbClr val="0070C0"/>
                </a:solidFill>
                <a:latin typeface="Calibri"/>
              </a:rPr>
              <a:t>Why our solution is technically grounded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80160"/>
            <a:ext cx="7498079" cy="329184"/>
          </a:xfrm>
          <a:prstGeom prst="roundRect">
            <a:avLst>
              <a:gd name="adj" fmla="val 19444"/>
            </a:avLst>
          </a:prstGeom>
          <a:solidFill>
            <a:srgbClr val="0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EXISTING RESEARCH WE BUILD 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68249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Oval 17412"/>
          <p:cNvSpPr/>
          <p:nvPr/>
        </p:nvSpPr>
        <p:spPr>
          <a:xfrm>
            <a:off x="457200" y="181051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60120" y="170992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Official SIH26126 Problem Statement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GPS-denied outdoor UGV: safe path / hazard detection, visual localization, dynamic rerouting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0" y="179222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Problem scope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241401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457200" y="254203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60120" y="244144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TerraPN  (arXiv:2202.12873)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Learns surface properties such as traction and bumpiness from robot–terrain interaction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26480" y="252374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Physical terrain feedback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314553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457200" y="327355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60120" y="317296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WayFAST (IEEE 2022) / WayFASTER (arXiv:2402.00683)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Self-supervised traversability prediction for off-road mobile robots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26480" y="325526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Visual traversability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65760" y="387705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457200" y="400507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60120" y="390448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Visual SLAM research reviews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Need for robust fusion and uncertainty awareness in real outdoor conditions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26480" y="398678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Localization + uncertainty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4608576"/>
            <a:ext cx="749807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457200" y="4736592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60120" y="4636008"/>
            <a:ext cx="5029200" cy="60350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1" i="0">
                <a:solidFill>
                  <a:srgbClr val="0B3A6E"/>
                </a:solidFill>
                <a:latin typeface="Calibri"/>
              </a:rPr>
              <a:t>ROS 2 Nav2 / open-source robotics stack</a:t>
            </a:r>
          </a:p>
          <a:p>
            <a:pPr algn="l"/>
            <a:r>
              <a:rPr sz="1050" b="0" i="0">
                <a:solidFill>
                  <a:srgbClr val="4F5F70"/>
                </a:solidFill>
                <a:latin typeface="Calibri"/>
              </a:rPr>
              <a:t>Practical costmap, planner, controller and modular deployment foundation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126480" y="4718304"/>
            <a:ext cx="1645920" cy="438912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12700">
            <a:solidFill>
              <a:srgbClr val="A9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 i="0">
                <a:solidFill>
                  <a:srgbClr val="4F5F70"/>
                </a:solidFill>
                <a:latin typeface="Calibri"/>
              </a:rPr>
              <a:t>Used for:</a:t>
            </a:r>
          </a:p>
          <a:p>
            <a:pPr algn="ctr"/>
            <a:r>
              <a:rPr sz="1050" b="1" i="0">
                <a:solidFill>
                  <a:srgbClr val="1E8E3E"/>
                </a:solidFill>
                <a:latin typeface="Calibri"/>
              </a:rPr>
              <a:t>Planning + deployment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046720" y="1280160"/>
            <a:ext cx="3749039" cy="329184"/>
          </a:xfrm>
          <a:prstGeom prst="roundRect">
            <a:avLst>
              <a:gd name="adj" fmla="val 19444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OUR PROPOSED INTEGRATION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046720" y="1609344"/>
            <a:ext cx="3749039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8183879" y="1828800"/>
            <a:ext cx="2148840" cy="2148840"/>
          </a:xfrm>
          <a:prstGeom prst="ellipse">
            <a:avLst/>
          </a:prstGeom>
          <a:solidFill>
            <a:srgbClr val="0070C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Oval 17434"/>
          <p:cNvSpPr/>
          <p:nvPr/>
        </p:nvSpPr>
        <p:spPr>
          <a:xfrm>
            <a:off x="9509760" y="1828800"/>
            <a:ext cx="2148840" cy="2148840"/>
          </a:xfrm>
          <a:prstGeom prst="ellipse">
            <a:avLst/>
          </a:prstGeom>
          <a:solidFill>
            <a:srgbClr val="E8730C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600" y="251460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What it SEES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visual traversability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(WayFAST, WayFASTER)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0332720" y="251460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What it FEELS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terrain interaction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(TerraPN)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9326880" y="338328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B3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PRAGYA-Nav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138160" y="4114800"/>
            <a:ext cx="35661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Camera-based terrain prediction is calibrated by the UGV’s own physical experience, then used for confidence-aware safe planning.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138160" y="4846320"/>
            <a:ext cx="35661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000" b="0" i="1">
                <a:solidFill>
                  <a:srgbClr val="4F5F70"/>
                </a:solidFill>
                <a:latin typeface="Calibri"/>
              </a:rPr>
              <a:t>Proposed integration of existing ideas; not a validated result yet.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65760" y="5440680"/>
            <a:ext cx="1143000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250" b="1" i="0">
                <a:solidFill>
                  <a:srgbClr val="0070C0"/>
                </a:solidFill>
                <a:latin typeface="Calibri"/>
              </a:rPr>
              <a:t>Our contribution: </a:t>
            </a:r>
            <a:r>
              <a:rPr sz="1250" b="1" i="0">
                <a:solidFill>
                  <a:srgbClr val="0B3A6E"/>
                </a:solidFill>
                <a:latin typeface="Calibri"/>
              </a:rPr>
              <a:t>a practical closed loop of visual terrain prediction + physical experience + confidence-aware safe planning.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65760" y="5961888"/>
            <a:ext cx="1143000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00" b="0" i="0">
                <a:solidFill>
                  <a:srgbClr val="4F5F70"/>
                </a:solidFill>
                <a:latin typeface="Calibri"/>
              </a:rPr>
              <a:t>Source links: sih2026.vuce.in/ps/SIH26126  |  arxiv.org/abs/2202.12873  |  arxiv.org/abs/2402.00683  |  IEEE WayFAST  |  ROS 2 Nav2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