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6" r:id="rId3"/>
    <p:sldId id="297" r:id="rId4"/>
    <p:sldId id="299" r:id="rId5"/>
    <p:sldId id="300" r:id="rId6"/>
    <p:sldId id="301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VISTRA</c:v>
                </c:pt>
              </c:strCache>
            </c:strRef>
          </c:tx>
          <c:dPt>
            <c:idx val="0"/>
            <c:bubble3D val="0"/>
            <c:spPr>
              <a:solidFill>
                <a:srgbClr val="91C22D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CA3A-451F-867B-83CD000FB57A}"/>
              </c:ext>
            </c:extLst>
          </c:dPt>
          <c:dPt>
            <c:idx val="1"/>
            <c:bubble3D val="0"/>
            <c:spPr>
              <a:solidFill>
                <a:srgbClr val="44BE7E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CA3A-451F-867B-83CD000FB57A}"/>
              </c:ext>
            </c:extLst>
          </c:dPt>
          <c:dPt>
            <c:idx val="2"/>
            <c:bubble3D val="0"/>
            <c:spPr>
              <a:solidFill>
                <a:srgbClr val="2DA5CD"/>
              </a:solidFill>
              <a:ln w="12700">
                <a:solidFill>
                  <a:srgbClr val="FFFFFF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CA3A-451F-867B-83CD000FB57A}"/>
              </c:ext>
            </c:extLst>
          </c:dPt>
          <c:cat>
            <c:strRef>
              <c:f>Sheet1!$A$2:$A$4</c:f>
              <c:strCache>
                <c:ptCount val="3"/>
                <c:pt idx="0">
                  <c:v>Safety</c:v>
                </c:pt>
                <c:pt idx="1">
                  <c:v>Reliability</c:v>
                </c:pt>
                <c:pt idx="2">
                  <c:v>Transparency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A3A-451F-867B-83CD000FB5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1081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349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ros.org/en/jazzy/" TargetMode="External"/><Relationship Id="rId3" Type="http://schemas.openxmlformats.org/officeDocument/2006/relationships/hyperlink" Target="https://arxiv.org/abs/2007.11898" TargetMode="External"/><Relationship Id="rId7" Type="http://schemas.openxmlformats.org/officeDocument/2006/relationships/hyperlink" Target="https://github.com/unmannedlab/RELLIS-3D" TargetMode="External"/><Relationship Id="rId12" Type="http://schemas.openxmlformats.org/officeDocument/2006/relationships/image" Target="../media/image4.png"/><Relationship Id="rId2" Type="http://schemas.openxmlformats.org/officeDocument/2006/relationships/hyperlink" Target="https://arxiv.org/abs/2105.15203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ugd.vision/pdfs/RUGD_IROS2019.pdf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publications.ri.cmu.edu/the-dynamic-window-approach-to-collision-avoidance" TargetMode="External"/><Relationship Id="rId10" Type="http://schemas.openxmlformats.org/officeDocument/2006/relationships/hyperlink" Target="https://onnxruntime.ai/docs/" TargetMode="External"/><Relationship Id="rId4" Type="http://schemas.openxmlformats.org/officeDocument/2006/relationships/hyperlink" Target="https://ocs.aaai.org/Library/AAAI/2002/aaai02-072.php" TargetMode="External"/><Relationship Id="rId9" Type="http://schemas.openxmlformats.org/officeDocument/2006/relationships/hyperlink" Target="https://gazebosim.org/docs/harmonic/getstarte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VISTRA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0" y="1450705"/>
            <a:ext cx="6245292" cy="517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26126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Based Autonomous Navigation for Unmanned Ground Vehicle for Outdoor Environment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142936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NEXORAS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68" y="73152"/>
            <a:ext cx="2194560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28800" y="164592"/>
            <a:ext cx="7635240" cy="43891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2900" b="1">
                <a:solidFill>
                  <a:srgbClr val="0C1D32"/>
                </a:solidFill>
                <a:latin typeface="Aptos Display"/>
              </a:rPr>
              <a:t>VISTRA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8980" y="657296"/>
            <a:ext cx="3385735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18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VISION-BASED AUTONOMOUS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8065" y="945333"/>
            <a:ext cx="3896709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1FAE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Camera-first  •  GPS-denied  •  Risk-aware  •  Explainable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144" y="1084499"/>
            <a:ext cx="3072316" cy="3293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900" b="1" dirty="0">
                <a:solidFill>
                  <a:srgbClr val="18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❖ PROPOSED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71449" y="1263923"/>
            <a:ext cx="2578591" cy="20621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r"/>
            <a:r>
              <a:rPr sz="1100" b="1" dirty="0">
                <a:solidFill>
                  <a:srgbClr val="5B697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pixels → confidence → safe driving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54480"/>
            <a:ext cx="11356848" cy="22860"/>
          </a:xfrm>
          <a:prstGeom prst="rect">
            <a:avLst/>
          </a:prstGeom>
          <a:solidFill>
            <a:srgbClr val="18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472" y="1682496"/>
            <a:ext cx="11494008" cy="566928"/>
          </a:xfrm>
          <a:prstGeom prst="roundRect">
            <a:avLst/>
          </a:prstGeom>
          <a:solidFill>
            <a:srgbClr val="0C1D32"/>
          </a:solidFill>
          <a:ln w="12700">
            <a:solidFill>
              <a:srgbClr val="0C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92224"/>
            <a:ext cx="11000232" cy="31089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VISTRA carries uncertainty from the camera to the wheel commands — then slows, recovers, replans or stops.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368296"/>
            <a:ext cx="3017520" cy="237744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50" b="1">
                <a:solidFill>
                  <a:srgbClr val="18355B"/>
                </a:solidFill>
                <a:latin typeface="Aptos"/>
              </a:rPr>
              <a:t>HOW VISTRA THINKS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2688336"/>
            <a:ext cx="1280160" cy="713232"/>
          </a:xfrm>
          <a:prstGeom prst="roundRect">
            <a:avLst/>
          </a:prstGeom>
          <a:solidFill>
            <a:srgbClr val="E8F4FC"/>
          </a:solidFill>
          <a:ln w="15240">
            <a:solidFill>
              <a:srgbClr val="10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75488" y="2779776"/>
            <a:ext cx="310896" cy="310896"/>
          </a:xfrm>
          <a:prstGeom prst="ellipse">
            <a:avLst/>
          </a:prstGeom>
          <a:solidFill>
            <a:srgbClr val="1075BE"/>
          </a:solidFill>
          <a:ln w="12700">
            <a:solidFill>
              <a:srgbClr val="10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761488"/>
            <a:ext cx="731519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1075BE"/>
                </a:solidFill>
                <a:latin typeface="Aptos"/>
              </a:rPr>
              <a:t>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059269"/>
            <a:ext cx="831318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RGB / Stereo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19656" y="2688336"/>
            <a:ext cx="1417320" cy="713232"/>
          </a:xfrm>
          <a:prstGeom prst="roundRect">
            <a:avLst/>
          </a:prstGeom>
          <a:solidFill>
            <a:srgbClr val="E8F4FC"/>
          </a:solidFill>
          <a:ln w="15240">
            <a:solidFill>
              <a:srgbClr val="18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911095" y="2779776"/>
            <a:ext cx="310896" cy="310896"/>
          </a:xfrm>
          <a:prstGeom prst="ellipse">
            <a:avLst/>
          </a:prstGeom>
          <a:solidFill>
            <a:srgbClr val="18355B"/>
          </a:solidFill>
          <a:ln w="12700">
            <a:solidFill>
              <a:srgbClr val="183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11095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95144" y="2761488"/>
            <a:ext cx="868680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18355B"/>
                </a:solidFill>
                <a:latin typeface="Aptos"/>
              </a:rPr>
              <a:t>PERCEPTION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95144" y="3059269"/>
            <a:ext cx="921086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SegFormer-B0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01568" y="2688336"/>
            <a:ext cx="1481328" cy="713232"/>
          </a:xfrm>
          <a:prstGeom prst="roundRect">
            <a:avLst/>
          </a:prstGeom>
          <a:solidFill>
            <a:srgbClr val="EBF8F1"/>
          </a:solidFill>
          <a:ln w="15240">
            <a:solidFill>
              <a:srgbClr val="2D9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93008" y="2779776"/>
            <a:ext cx="310896" cy="310896"/>
          </a:xfrm>
          <a:prstGeom prst="ellipse">
            <a:avLst/>
          </a:prstGeom>
          <a:solidFill>
            <a:srgbClr val="2D9F69"/>
          </a:solidFill>
          <a:ln w="12700">
            <a:solidFill>
              <a:srgbClr val="2D9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93008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2761488"/>
            <a:ext cx="932688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2D9F69"/>
                </a:solidFill>
                <a:latin typeface="Aptos"/>
              </a:rPr>
              <a:t>RISK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056" y="3059269"/>
            <a:ext cx="897040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BEV + Entropy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56632" y="2688336"/>
            <a:ext cx="1481328" cy="713232"/>
          </a:xfrm>
          <a:prstGeom prst="roundRect">
            <a:avLst/>
          </a:prstGeom>
          <a:solidFill>
            <a:srgbClr val="F4EFF9"/>
          </a:solidFill>
          <a:ln w="1524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148072" y="2779776"/>
            <a:ext cx="310896" cy="310896"/>
          </a:xfrm>
          <a:prstGeom prst="ellipse">
            <a:avLst/>
          </a:prstGeom>
          <a:solidFill>
            <a:srgbClr val="7553A5"/>
          </a:solidFill>
          <a:ln w="1270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48072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2761488"/>
            <a:ext cx="932688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7553A5"/>
                </a:solidFill>
                <a:latin typeface="Aptos"/>
              </a:rPr>
              <a:t>LOCALIZATION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059269"/>
            <a:ext cx="608500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VO + EKF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11696" y="2688336"/>
            <a:ext cx="1371600" cy="713232"/>
          </a:xfrm>
          <a:prstGeom prst="roundRect">
            <a:avLst/>
          </a:prstGeom>
          <a:solidFill>
            <a:srgbClr val="E8F4FC"/>
          </a:solidFill>
          <a:ln w="15240">
            <a:solidFill>
              <a:srgbClr val="10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803136" y="2779776"/>
            <a:ext cx="310896" cy="310896"/>
          </a:xfrm>
          <a:prstGeom prst="ellipse">
            <a:avLst/>
          </a:prstGeom>
          <a:solidFill>
            <a:srgbClr val="1075BE"/>
          </a:solidFill>
          <a:ln w="12700">
            <a:solidFill>
              <a:srgbClr val="1075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03136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87183" y="2761488"/>
            <a:ext cx="822960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1075BE"/>
                </a:solidFill>
                <a:latin typeface="Aptos"/>
              </a:rPr>
              <a:t>PLANNING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7183" y="3059269"/>
            <a:ext cx="895438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D* Lite + DWA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38744" y="2688336"/>
            <a:ext cx="1371600" cy="713232"/>
          </a:xfrm>
          <a:prstGeom prst="roundRect">
            <a:avLst/>
          </a:prstGeom>
          <a:solidFill>
            <a:srgbClr val="FCEFEF"/>
          </a:solidFill>
          <a:ln w="15240">
            <a:solidFill>
              <a:srgbClr val="D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330183" y="2779776"/>
            <a:ext cx="310896" cy="310896"/>
          </a:xfrm>
          <a:prstGeom prst="ellipse">
            <a:avLst/>
          </a:prstGeom>
          <a:solidFill>
            <a:srgbClr val="D14646"/>
          </a:solidFill>
          <a:ln w="12700">
            <a:solidFill>
              <a:srgbClr val="D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30183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14232" y="2761488"/>
            <a:ext cx="822960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D14646"/>
                </a:solidFill>
                <a:latin typeface="Aptos"/>
              </a:rPr>
              <a:t>SAFETY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4232" y="3059269"/>
            <a:ext cx="683842" cy="190821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00" b="1" dirty="0">
                <a:solidFill>
                  <a:srgbClr val="5B6976"/>
                </a:solidFill>
                <a:latin typeface="Aptos"/>
              </a:rPr>
              <a:t>TTC + FSM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765792" y="2688336"/>
            <a:ext cx="2011680" cy="713232"/>
          </a:xfrm>
          <a:prstGeom prst="roundRect">
            <a:avLst/>
          </a:prstGeom>
          <a:solidFill>
            <a:srgbClr val="EFF3F6"/>
          </a:solidFill>
          <a:ln w="15240">
            <a:solidFill>
              <a:srgbClr val="0C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857232" y="2779776"/>
            <a:ext cx="310896" cy="310896"/>
          </a:xfrm>
          <a:prstGeom prst="ellipse">
            <a:avLst/>
          </a:prstGeom>
          <a:solidFill>
            <a:srgbClr val="0C1D32"/>
          </a:solidFill>
          <a:ln w="12700">
            <a:solidFill>
              <a:srgbClr val="0C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857232" y="2811780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2761488"/>
            <a:ext cx="1463040" cy="256032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19" b="1">
                <a:solidFill>
                  <a:srgbClr val="0C1D32"/>
                </a:solidFill>
                <a:latin typeface="Aptos"/>
              </a:rPr>
              <a:t>DRIVE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055422"/>
            <a:ext cx="775212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5B6976"/>
                </a:solidFill>
                <a:latin typeface="Aptos"/>
              </a:rPr>
              <a:t>(</a:t>
            </a:r>
            <a:r>
              <a:rPr sz="1050" b="1" dirty="0" err="1">
                <a:solidFill>
                  <a:srgbClr val="5B6976"/>
                </a:solidFill>
                <a:latin typeface="Aptos"/>
              </a:rPr>
              <a:t>v,w</a:t>
            </a:r>
            <a:r>
              <a:rPr sz="1050" b="1" dirty="0">
                <a:solidFill>
                  <a:srgbClr val="5B6976"/>
                </a:solidFill>
                <a:latin typeface="Aptos"/>
              </a:rPr>
              <a:t>) → L / R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682495" y="3044952"/>
            <a:ext cx="118873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255264" y="3044952"/>
            <a:ext cx="128016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01183" y="3044952"/>
            <a:ext cx="137161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556248" y="3044952"/>
            <a:ext cx="137160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101583" y="3044952"/>
            <a:ext cx="118873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628632" y="3044952"/>
            <a:ext cx="118872" cy="0"/>
          </a:xfrm>
          <a:prstGeom prst="line">
            <a:avLst/>
          </a:prstGeom>
          <a:ln w="17780">
            <a:solidFill>
              <a:srgbClr val="1835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828800" y="3547872"/>
            <a:ext cx="4892040" cy="530352"/>
          </a:xfrm>
          <a:prstGeom prst="roundRect">
            <a:avLst/>
          </a:prstGeom>
          <a:solidFill>
            <a:srgbClr val="F4EFF9"/>
          </a:solidFill>
          <a:ln w="1524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32947" y="3655079"/>
            <a:ext cx="1637628" cy="20621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100" b="1" dirty="0">
                <a:solidFill>
                  <a:srgbClr val="7553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15641" y="3658926"/>
            <a:ext cx="1262526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050" b="1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NCS = weakest link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67728" y="3547872"/>
            <a:ext cx="4773168" cy="530352"/>
          </a:xfrm>
          <a:prstGeom prst="roundRect">
            <a:avLst/>
          </a:prstGeom>
          <a:solidFill>
            <a:srgbClr val="FFF7E5"/>
          </a:solidFill>
          <a:ln w="15240">
            <a:solidFill>
              <a:srgbClr val="E8A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53496" y="3658927"/>
            <a:ext cx="1610377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050" b="1" dirty="0">
                <a:solidFill>
                  <a:srgbClr val="E8A3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RECOVERY MANAGER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2322" y="3658926"/>
            <a:ext cx="2120132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050" b="1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→ Stop → Recover → Replan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142232" y="3401568"/>
            <a:ext cx="0" cy="137160"/>
          </a:xfrm>
          <a:prstGeom prst="line">
            <a:avLst/>
          </a:prstGeom>
          <a:ln w="15240">
            <a:solidFill>
              <a:srgbClr val="755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5715000" y="3401568"/>
            <a:ext cx="0" cy="137160"/>
          </a:xfrm>
          <a:prstGeom prst="line">
            <a:avLst/>
          </a:prstGeom>
          <a:ln w="15240">
            <a:solidFill>
              <a:srgbClr val="7553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8924544" y="3401568"/>
            <a:ext cx="0" cy="137160"/>
          </a:xfrm>
          <a:prstGeom prst="line">
            <a:avLst/>
          </a:prstGeom>
          <a:ln w="15240">
            <a:solidFill>
              <a:srgbClr val="E8A3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65760" y="4259307"/>
            <a:ext cx="2692404" cy="213905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50" b="1" dirty="0">
                <a:solidFill>
                  <a:srgbClr val="18355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4553712"/>
            <a:ext cx="3621024" cy="1060704"/>
          </a:xfrm>
          <a:prstGeom prst="roundRect">
            <a:avLst/>
          </a:prstGeom>
          <a:solidFill>
            <a:srgbClr val="EBF8F1"/>
          </a:solidFill>
          <a:ln w="15240">
            <a:solidFill>
              <a:srgbClr val="2D9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84632" y="4672584"/>
            <a:ext cx="310896" cy="310896"/>
          </a:xfrm>
          <a:prstGeom prst="ellipse">
            <a:avLst/>
          </a:prstGeom>
          <a:solidFill>
            <a:srgbClr val="2D9F69"/>
          </a:solidFill>
          <a:ln w="12700">
            <a:solidFill>
              <a:srgbClr val="2D9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84632" y="4704588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" y="4671513"/>
            <a:ext cx="1717778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200" b="1" dirty="0">
                <a:solidFill>
                  <a:srgbClr val="2D9F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UNKNOWN HAZARDS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9997" y="5038344"/>
            <a:ext cx="3077574" cy="406265"/>
          </a:xfrm>
          <a:prstGeom prst="rect">
            <a:avLst/>
          </a:prstGeom>
          <a:noFill/>
        </p:spPr>
        <p:txBody>
          <a:bodyPr wrap="non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 terrain becomes risky by default. This</a:t>
            </a:r>
            <a:br>
              <a:rPr lang="en-US"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cover ditches, mud and unseen obstacles.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279392" y="4553712"/>
            <a:ext cx="3621024" cy="1060704"/>
          </a:xfrm>
          <a:prstGeom prst="roundRect">
            <a:avLst/>
          </a:prstGeom>
          <a:solidFill>
            <a:srgbClr val="F4EFF9"/>
          </a:solidFill>
          <a:ln w="1524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4398264" y="4672584"/>
            <a:ext cx="310896" cy="310896"/>
          </a:xfrm>
          <a:prstGeom prst="ellipse">
            <a:avLst/>
          </a:prstGeom>
          <a:solidFill>
            <a:srgbClr val="7553A5"/>
          </a:solidFill>
          <a:ln w="1270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98264" y="4704588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09744" y="4671513"/>
            <a:ext cx="1528624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200" b="1" dirty="0">
                <a:solidFill>
                  <a:srgbClr val="7553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DEGRADES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97680" y="5068824"/>
            <a:ext cx="4773167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 + EKF track confidence. Blur, darkness and feature</a:t>
            </a:r>
            <a:br>
              <a:rPr lang="en-US"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loss trigger</a:t>
            </a:r>
            <a:r>
              <a:rPr lang="en-US" sz="120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controlled recovery.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93024" y="4553712"/>
            <a:ext cx="3621024" cy="1060704"/>
          </a:xfrm>
          <a:prstGeom prst="roundRect">
            <a:avLst/>
          </a:prstGeom>
          <a:solidFill>
            <a:srgbClr val="FCEFEF"/>
          </a:solidFill>
          <a:ln w="15240">
            <a:solidFill>
              <a:srgbClr val="D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311896" y="4672584"/>
            <a:ext cx="310896" cy="310896"/>
          </a:xfrm>
          <a:prstGeom prst="ellipse">
            <a:avLst/>
          </a:prstGeom>
          <a:solidFill>
            <a:srgbClr val="D14646"/>
          </a:solidFill>
          <a:ln w="12700">
            <a:solidFill>
              <a:srgbClr val="D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311896" y="4704588"/>
            <a:ext cx="310896" cy="13716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23376" y="4671513"/>
            <a:ext cx="1376339" cy="221599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200" b="1" dirty="0">
                <a:solidFill>
                  <a:srgbClr val="D14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COLLISION RISK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93024" y="5038344"/>
            <a:ext cx="3885787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TTC predicts the vehicle for 3 s and checks stopping time</a:t>
            </a:r>
            <a:br>
              <a:rPr lang="en-US"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2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against terrain and obstacle risk.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5760" y="5617917"/>
            <a:ext cx="2743200" cy="22860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50" b="1" dirty="0">
                <a:solidFill>
                  <a:srgbClr val="18355B"/>
                </a:solidFill>
                <a:latin typeface="Aptos"/>
              </a:rPr>
              <a:t>3 CORE INNOVATIONS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47472" y="5827974"/>
            <a:ext cx="3621024" cy="539496"/>
          </a:xfrm>
          <a:prstGeom prst="roundRect">
            <a:avLst/>
          </a:prstGeom>
          <a:solidFill>
            <a:srgbClr val="EBF8F1"/>
          </a:solidFill>
          <a:ln w="13970">
            <a:solidFill>
              <a:srgbClr val="2D9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75488" y="5899206"/>
            <a:ext cx="1631216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2D9F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→ RISK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461403" y="6087260"/>
            <a:ext cx="2540119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+ temporal fusion + pose uncertainty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279392" y="5824728"/>
            <a:ext cx="3621024" cy="539496"/>
          </a:xfrm>
          <a:prstGeom prst="roundRect">
            <a:avLst/>
          </a:prstGeom>
          <a:solidFill>
            <a:srgbClr val="F4EFF9"/>
          </a:solidFill>
          <a:ln w="13970">
            <a:solidFill>
              <a:srgbClr val="755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325576" y="5871774"/>
            <a:ext cx="1741823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7553A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CONFIDENCE → ACTION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55388" y="6083412"/>
            <a:ext cx="2522485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Weakest-link NCS controls speed + recovery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29016" y="5824728"/>
            <a:ext cx="3621024" cy="539496"/>
          </a:xfrm>
          <a:prstGeom prst="roundRect">
            <a:avLst/>
          </a:prstGeom>
          <a:solidFill>
            <a:srgbClr val="FCEFEF"/>
          </a:solidFill>
          <a:ln w="13970">
            <a:solidFill>
              <a:srgbClr val="D1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238744" y="5833674"/>
            <a:ext cx="1300997" cy="198516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050" b="1" dirty="0">
                <a:solidFill>
                  <a:srgbClr val="D14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TTC → SAFE STOP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38452" y="6032190"/>
            <a:ext cx="2357377" cy="20621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l"/>
            <a:r>
              <a:rPr sz="1100" b="0" dirty="0">
                <a:solidFill>
                  <a:srgbClr val="1F28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Trajectory + stopping time + terrain risk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466332"/>
            <a:ext cx="12191695" cy="429768"/>
          </a:xfrm>
          <a:prstGeom prst="rect">
            <a:avLst/>
          </a:prstGeom>
          <a:solidFill>
            <a:srgbClr val="077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607894" y="6558075"/>
            <a:ext cx="2706831" cy="252377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NEXORAS</a:t>
            </a:r>
            <a:endParaRPr sz="1400" b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1430000" y="6501384"/>
            <a:ext cx="320040" cy="182880"/>
          </a:xfrm>
          <a:prstGeom prst="rect">
            <a:avLst/>
          </a:prstGeom>
          <a:noFill/>
        </p:spPr>
        <p:txBody>
          <a:bodyPr wrap="none" lIns="45720" tIns="18288" rIns="45720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grpSp>
        <p:nvGrpSpPr>
          <p:cNvPr id="94" name="Group 13">
            <a:extLst>
              <a:ext uri="{FF2B5EF4-FFF2-40B4-BE49-F238E27FC236}">
                <a16:creationId xmlns:a16="http://schemas.microsoft.com/office/drawing/2014/main" id="{EDF4338F-A37C-9F66-5B51-148DA64D8585}"/>
              </a:ext>
            </a:extLst>
          </p:cNvPr>
          <p:cNvGrpSpPr/>
          <p:nvPr/>
        </p:nvGrpSpPr>
        <p:grpSpPr>
          <a:xfrm>
            <a:off x="68816" y="26896"/>
            <a:ext cx="1900805" cy="1043287"/>
            <a:chOff x="-13204" y="-22845"/>
            <a:chExt cx="2534408" cy="1654795"/>
          </a:xfrm>
        </p:grpSpPr>
        <p:sp>
          <p:nvSpPr>
            <p:cNvPr id="95" name="Freeform 14" descr="Your startup LOGO">
              <a:extLst>
                <a:ext uri="{FF2B5EF4-FFF2-40B4-BE49-F238E27FC236}">
                  <a16:creationId xmlns:a16="http://schemas.microsoft.com/office/drawing/2014/main" id="{B6813280-60CA-7714-6C3F-E0A156A6DF54}"/>
                </a:ext>
              </a:extLst>
            </p:cNvPr>
            <p:cNvSpPr/>
            <p:nvPr/>
          </p:nvSpPr>
          <p:spPr>
            <a:xfrm>
              <a:off x="0" y="0"/>
              <a:ext cx="2521204" cy="1631950"/>
            </a:xfrm>
            <a:custGeom>
              <a:avLst/>
              <a:gdLst/>
              <a:ahLst/>
              <a:cxnLst/>
              <a:rect l="l" t="t" r="r" b="b"/>
              <a:pathLst>
                <a:path w="2521204" h="1631950">
                  <a:moveTo>
                    <a:pt x="0" y="815975"/>
                  </a:moveTo>
                  <a:cubicBezTo>
                    <a:pt x="0" y="365379"/>
                    <a:pt x="564388" y="0"/>
                    <a:pt x="1260602" y="0"/>
                  </a:cubicBezTo>
                  <a:cubicBezTo>
                    <a:pt x="1956816" y="0"/>
                    <a:pt x="2521204" y="365379"/>
                    <a:pt x="2521204" y="815975"/>
                  </a:cubicBezTo>
                  <a:cubicBezTo>
                    <a:pt x="2521204" y="1266571"/>
                    <a:pt x="1956816" y="1631950"/>
                    <a:pt x="1260602" y="1631950"/>
                  </a:cubicBezTo>
                  <a:cubicBezTo>
                    <a:pt x="564388" y="1631950"/>
                    <a:pt x="0" y="1266698"/>
                    <a:pt x="0" y="815975"/>
                  </a:cubicBezTo>
                  <a:close/>
                </a:path>
              </a:pathLst>
            </a:custGeom>
            <a:solidFill>
              <a:srgbClr val="FFFFFF"/>
            </a:solidFill>
            <a:ln w="12905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96" name="TextBox 15">
              <a:extLst>
                <a:ext uri="{FF2B5EF4-FFF2-40B4-BE49-F238E27FC236}">
                  <a16:creationId xmlns:a16="http://schemas.microsoft.com/office/drawing/2014/main" id="{2BF20FA0-4885-F036-C321-771F340033ED}"/>
                </a:ext>
              </a:extLst>
            </p:cNvPr>
            <p:cNvSpPr txBox="1"/>
            <p:nvPr/>
          </p:nvSpPr>
          <p:spPr>
            <a:xfrm>
              <a:off x="-13204" y="-22845"/>
              <a:ext cx="2521090" cy="164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8"/>
                </a:lnSpc>
              </a:pPr>
              <a:r>
                <a:rPr lang="en-US" sz="2032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NEXORAS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6632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82880" y="164592"/>
            <a:ext cx="1691640" cy="841248"/>
          </a:xfrm>
          <a:prstGeom prst="ellipse">
            <a:avLst/>
          </a:prstGeom>
          <a:noFill/>
          <a:ln w="17780">
            <a:solidFill>
              <a:srgbClr val="76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438912"/>
            <a:ext cx="1353312" cy="20116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350" b="1">
                <a:solidFill>
                  <a:srgbClr val="1C2228"/>
                </a:solidFill>
                <a:latin typeface="Georgia"/>
              </a:rPr>
              <a:t>NEXORAS</a:t>
            </a:r>
          </a:p>
        </p:txBody>
      </p:sp>
      <p:pic>
        <p:nvPicPr>
          <p:cNvPr id="4" name="Picture 3" descr="sih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4008"/>
            <a:ext cx="2139696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148840" y="228600"/>
            <a:ext cx="7909560" cy="4572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2600" b="1">
                <a:solidFill>
                  <a:srgbClr val="080808"/>
                </a:solidFill>
                <a:latin typeface="Georgia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77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97648" y="6579800"/>
            <a:ext cx="2314864" cy="221599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</a:t>
            </a: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NEXORAS</a:t>
            </a:r>
            <a:endParaRPr sz="1200" b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5680" y="6565392"/>
            <a:ext cx="32004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124712"/>
            <a:ext cx="3886200" cy="5102352"/>
          </a:xfrm>
          <a:prstGeom prst="rect">
            <a:avLst/>
          </a:prstGeom>
          <a:solidFill>
            <a:srgbClr val="FFFFFF"/>
          </a:solidFill>
          <a:ln w="1778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307592"/>
            <a:ext cx="3383280" cy="25603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64D78"/>
                </a:solidFill>
                <a:latin typeface="Aptos"/>
              </a:rPr>
              <a:t>TECHNOLOGIES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1709928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" y="1764792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1691640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AI / COMPUTER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92808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Python • PyTorch • OpenCV • ONNX Runtime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2368296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" y="2423160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2350008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PERCEPTION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2551176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SegFormer-B0 + YOLOv8n / YOLO11n</a:t>
            </a:r>
          </a:p>
        </p:txBody>
      </p:sp>
      <p:sp>
        <p:nvSpPr>
          <p:cNvPr id="19" name="Oval 18"/>
          <p:cNvSpPr/>
          <p:nvPr/>
        </p:nvSpPr>
        <p:spPr>
          <a:xfrm>
            <a:off x="484632" y="3026663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632" y="3081527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008376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LOCALIZATION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209544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Stereo VO + EKF • RTAB-Map / ORB-SLAM3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" y="3685031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" y="3739896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3666744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PLANNING &amp;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3867911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D* Lite • DWA • TTC safety layer</a:t>
            </a:r>
          </a:p>
        </p:txBody>
      </p:sp>
      <p:sp>
        <p:nvSpPr>
          <p:cNvPr id="27" name="Oval 26"/>
          <p:cNvSpPr/>
          <p:nvPr/>
        </p:nvSpPr>
        <p:spPr>
          <a:xfrm>
            <a:off x="484632" y="4343399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" y="4398264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325112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ROBOTICS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526279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ROS 2 Jazzy • Gazebo Harmonic</a:t>
            </a:r>
          </a:p>
        </p:txBody>
      </p:sp>
      <p:sp>
        <p:nvSpPr>
          <p:cNvPr id="31" name="Oval 30"/>
          <p:cNvSpPr/>
          <p:nvPr/>
        </p:nvSpPr>
        <p:spPr>
          <a:xfrm>
            <a:off x="484632" y="5001767"/>
            <a:ext cx="219456" cy="219456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" y="5056631"/>
            <a:ext cx="219456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4983479"/>
            <a:ext cx="28346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1C2228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184647"/>
            <a:ext cx="2944368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FastAPI + WebSocket • React + TypeScript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32120"/>
            <a:ext cx="3383280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64D78"/>
                </a:solidFill>
                <a:latin typeface="Aptos"/>
              </a:rPr>
              <a:t>IMPLEMENTATION METHODOLOGY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5820757"/>
            <a:ext cx="3828099" cy="190821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00" b="1" dirty="0">
                <a:solidFill>
                  <a:srgbClr val="1C2228"/>
                </a:solidFill>
                <a:latin typeface="Aptos"/>
              </a:rPr>
              <a:t>Simulate → perceive → map → localize → plan → verify →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6552" y="1280160"/>
            <a:ext cx="3794760" cy="22860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70B4"/>
                </a:solidFill>
                <a:latin typeface="Aptos"/>
              </a:rPr>
              <a:t>PROCESS FLOW ARCHITECTURE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1627632"/>
            <a:ext cx="1417320" cy="603504"/>
          </a:xfrm>
          <a:prstGeom prst="roundRect">
            <a:avLst/>
          </a:prstGeom>
          <a:solidFill>
            <a:srgbClr val="EFF6FC"/>
          </a:solidFill>
          <a:ln w="1524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690872" y="1746504"/>
            <a:ext cx="274320" cy="274320"/>
          </a:xfrm>
          <a:prstGeom prst="ellipse">
            <a:avLst/>
          </a:prstGeom>
          <a:solidFill>
            <a:srgbClr val="3570B4"/>
          </a:solidFill>
          <a:ln w="1270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690872" y="1815084"/>
            <a:ext cx="274320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2" y="1709928"/>
            <a:ext cx="749808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264D78"/>
                </a:solidFill>
                <a:latin typeface="Aptos"/>
              </a:rPr>
              <a:t>CAMERA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632" y="1920240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RGB / stereo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36208" y="1627632"/>
            <a:ext cx="1627632" cy="603504"/>
          </a:xfrm>
          <a:prstGeom prst="roundRect">
            <a:avLst/>
          </a:prstGeom>
          <a:solidFill>
            <a:srgbClr val="EFF8F3"/>
          </a:solidFill>
          <a:ln w="15240">
            <a:solidFill>
              <a:srgbClr val="3A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355080" y="1746504"/>
            <a:ext cx="274320" cy="274320"/>
          </a:xfrm>
          <a:prstGeom prst="ellipse">
            <a:avLst/>
          </a:prstGeom>
          <a:solidFill>
            <a:srgbClr val="3A9967"/>
          </a:solidFill>
          <a:ln w="12700">
            <a:solidFill>
              <a:srgbClr val="3A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1815084"/>
            <a:ext cx="274320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1709928"/>
            <a:ext cx="96012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3A9967"/>
                </a:solidFill>
                <a:latin typeface="Aptos"/>
              </a:rPr>
              <a:t>PERCEPTION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1920240"/>
            <a:ext cx="960120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terrain + objects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19872" y="1627632"/>
            <a:ext cx="1627632" cy="603504"/>
          </a:xfrm>
          <a:prstGeom prst="roundRect">
            <a:avLst/>
          </a:prstGeom>
          <a:solidFill>
            <a:srgbClr val="FFF8ED"/>
          </a:solidFill>
          <a:ln w="15240">
            <a:solidFill>
              <a:srgbClr val="E0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238744" y="1746504"/>
            <a:ext cx="274320" cy="274320"/>
          </a:xfrm>
          <a:prstGeom prst="ellipse">
            <a:avLst/>
          </a:prstGeom>
          <a:solidFill>
            <a:srgbClr val="E09637"/>
          </a:solidFill>
          <a:ln w="12700">
            <a:solidFill>
              <a:srgbClr val="E0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38744" y="1815084"/>
            <a:ext cx="274320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04504" y="1709928"/>
            <a:ext cx="96012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E09637"/>
                </a:solidFill>
                <a:latin typeface="Aptos"/>
              </a:rPr>
              <a:t>RISK 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04504" y="1920240"/>
            <a:ext cx="960120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BEV + uncertainty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03536" y="1627632"/>
            <a:ext cx="1627632" cy="603504"/>
          </a:xfrm>
          <a:prstGeom prst="roundRect">
            <a:avLst/>
          </a:prstGeom>
          <a:solidFill>
            <a:srgbClr val="F7F3FB"/>
          </a:solidFill>
          <a:ln w="15240">
            <a:solidFill>
              <a:srgbClr val="76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122408" y="1746504"/>
            <a:ext cx="274320" cy="274320"/>
          </a:xfrm>
          <a:prstGeom prst="ellipse">
            <a:avLst/>
          </a:prstGeom>
          <a:solidFill>
            <a:srgbClr val="7652A3"/>
          </a:solidFill>
          <a:ln w="12700">
            <a:solidFill>
              <a:srgbClr val="76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22408" y="1815084"/>
            <a:ext cx="274320" cy="822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62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88168" y="1709928"/>
            <a:ext cx="96012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1">
                <a:solidFill>
                  <a:srgbClr val="7652A3"/>
                </a:solidFill>
                <a:latin typeface="Aptos"/>
              </a:rPr>
              <a:t>LOCALIZE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88168" y="1920240"/>
            <a:ext cx="960120" cy="14630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l"/>
            <a:r>
              <a:rPr sz="1050" b="0">
                <a:solidFill>
                  <a:srgbClr val="55606B"/>
                </a:solidFill>
                <a:latin typeface="Aptos"/>
              </a:rPr>
              <a:t>VO + EKF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16752" y="1929384"/>
            <a:ext cx="182880" cy="0"/>
          </a:xfrm>
          <a:prstGeom prst="line">
            <a:avLst/>
          </a:prstGeom>
          <a:ln w="20320">
            <a:solidFill>
              <a:srgbClr val="35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882127" y="1929384"/>
            <a:ext cx="201169" cy="0"/>
          </a:xfrm>
          <a:prstGeom prst="line">
            <a:avLst/>
          </a:prstGeom>
          <a:ln w="20320">
            <a:solidFill>
              <a:srgbClr val="3A99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765792" y="1929384"/>
            <a:ext cx="201168" cy="0"/>
          </a:xfrm>
          <a:prstGeom prst="line">
            <a:avLst/>
          </a:prstGeom>
          <a:ln w="20320">
            <a:solidFill>
              <a:srgbClr val="E096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572000" y="2697480"/>
            <a:ext cx="1783080" cy="713232"/>
          </a:xfrm>
          <a:prstGeom prst="roundRect">
            <a:avLst/>
          </a:prstGeom>
          <a:solidFill>
            <a:srgbClr val="EFF6FC"/>
          </a:solidFill>
          <a:ln w="1524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736592" y="2816352"/>
            <a:ext cx="14630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3570B4"/>
                </a:solidFill>
                <a:latin typeface="Aptos"/>
              </a:rPr>
              <a:t>GLOBAL PLANNER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36592" y="3072384"/>
            <a:ext cx="146304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55606B"/>
                </a:solidFill>
                <a:latin typeface="Aptos"/>
              </a:rPr>
              <a:t>D* Lite • A → B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56832" y="2697480"/>
            <a:ext cx="1783080" cy="713232"/>
          </a:xfrm>
          <a:prstGeom prst="roundRect">
            <a:avLst/>
          </a:prstGeom>
          <a:solidFill>
            <a:srgbClr val="EFF6FC"/>
          </a:solidFill>
          <a:ln w="1524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21424" y="2816352"/>
            <a:ext cx="14630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3570B4"/>
                </a:solidFill>
                <a:latin typeface="Aptos"/>
              </a:rPr>
              <a:t>LOCAL PLANNER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21424" y="3072384"/>
            <a:ext cx="146304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55606B"/>
                </a:solidFill>
                <a:latin typeface="Aptos"/>
              </a:rPr>
              <a:t>DWA • trajectory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741664" y="2697480"/>
            <a:ext cx="1783080" cy="713232"/>
          </a:xfrm>
          <a:prstGeom prst="roundRect">
            <a:avLst/>
          </a:prstGeom>
          <a:solidFill>
            <a:srgbClr val="FDF1F1"/>
          </a:solidFill>
          <a:ln w="15240">
            <a:solidFill>
              <a:srgbClr val="CB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06256" y="2816352"/>
            <a:ext cx="146304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CB4949"/>
                </a:solidFill>
                <a:latin typeface="Aptos"/>
              </a:rPr>
              <a:t>SAFETY LAYER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06256" y="3072384"/>
            <a:ext cx="1463040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55606B"/>
                </a:solidFill>
                <a:latin typeface="Aptos"/>
              </a:rPr>
              <a:t>TTC • 3 s prediction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826496" y="2697480"/>
            <a:ext cx="905256" cy="713232"/>
          </a:xfrm>
          <a:prstGeom prst="roundRect">
            <a:avLst/>
          </a:prstGeom>
          <a:solidFill>
            <a:srgbClr val="EFF8F3"/>
          </a:solidFill>
          <a:ln w="15240">
            <a:solidFill>
              <a:srgbClr val="3A9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872216" y="2816352"/>
            <a:ext cx="804672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3A9967"/>
                </a:solidFill>
                <a:latin typeface="Aptos"/>
              </a:rPr>
              <a:t>DRIVE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72216" y="3072384"/>
            <a:ext cx="804672" cy="16459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55606B"/>
                </a:solidFill>
                <a:latin typeface="Aptos"/>
              </a:rPr>
              <a:t>v,w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5458968" y="2249424"/>
            <a:ext cx="3474720" cy="429768"/>
          </a:xfrm>
          <a:prstGeom prst="line">
            <a:avLst/>
          </a:prstGeom>
          <a:ln w="17780">
            <a:solidFill>
              <a:srgbClr val="E096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9601200" y="2249424"/>
            <a:ext cx="1207008" cy="429768"/>
          </a:xfrm>
          <a:prstGeom prst="line">
            <a:avLst/>
          </a:prstGeom>
          <a:ln w="17780">
            <a:solidFill>
              <a:srgbClr val="7652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6373368" y="3054096"/>
            <a:ext cx="256032" cy="0"/>
          </a:xfrm>
          <a:prstGeom prst="line">
            <a:avLst/>
          </a:prstGeom>
          <a:ln w="20320">
            <a:solidFill>
              <a:srgbClr val="35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458200" y="3054096"/>
            <a:ext cx="256032" cy="0"/>
          </a:xfrm>
          <a:prstGeom prst="line">
            <a:avLst/>
          </a:prstGeom>
          <a:ln w="20320">
            <a:solidFill>
              <a:srgbClr val="3570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543032" y="3054096"/>
            <a:ext cx="256032" cy="0"/>
          </a:xfrm>
          <a:prstGeom prst="line">
            <a:avLst/>
          </a:prstGeom>
          <a:ln w="20320">
            <a:solidFill>
              <a:srgbClr val="CB49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572000" y="3767328"/>
            <a:ext cx="7159752" cy="621792"/>
          </a:xfrm>
          <a:prstGeom prst="roundRect">
            <a:avLst/>
          </a:prstGeom>
          <a:solidFill>
            <a:srgbClr val="F7F3FB"/>
          </a:solidFill>
          <a:ln w="15240">
            <a:solidFill>
              <a:srgbClr val="7652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736592" y="3867912"/>
            <a:ext cx="150876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7652A3"/>
                </a:solidFill>
                <a:latin typeface="Aptos"/>
              </a:rPr>
              <a:t>CONFIDENCE ENGINE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309360" y="3858768"/>
            <a:ext cx="2194560" cy="19202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1C2228"/>
                </a:solidFill>
                <a:latin typeface="Aptos"/>
              </a:rPr>
              <a:t>NCS = weakest link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77072" y="3858768"/>
            <a:ext cx="2926080" cy="192024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CB4949"/>
                </a:solidFill>
                <a:latin typeface="Aptos"/>
              </a:rPr>
              <a:t>Low confidence → slow / recover / replan / stop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726679" y="3438144"/>
            <a:ext cx="0" cy="310895"/>
          </a:xfrm>
          <a:prstGeom prst="line">
            <a:avLst/>
          </a:prstGeom>
          <a:ln w="15240">
            <a:solidFill>
              <a:srgbClr val="7652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012680" y="3438144"/>
            <a:ext cx="0" cy="310895"/>
          </a:xfrm>
          <a:prstGeom prst="line">
            <a:avLst/>
          </a:prstGeom>
          <a:ln w="15240">
            <a:solidFill>
              <a:srgbClr val="DE9D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4572000" y="4553712"/>
            <a:ext cx="3401568" cy="932688"/>
          </a:xfrm>
          <a:prstGeom prst="roundRect">
            <a:avLst/>
          </a:prstGeom>
          <a:solidFill>
            <a:srgbClr val="1C2228"/>
          </a:solidFill>
          <a:ln w="15240">
            <a:solidFill>
              <a:srgbClr val="1C2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754880" y="4681728"/>
            <a:ext cx="132588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CA4C9"/>
                </a:solidFill>
                <a:latin typeface="Aptos"/>
              </a:rPr>
              <a:t>EXPLAINABILITY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44768" y="4663440"/>
            <a:ext cx="1627632" cy="21945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Dashboard shows: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91456" y="4965192"/>
            <a:ext cx="2926080" cy="31089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DDE8F0"/>
                </a:solidFill>
                <a:latin typeface="Aptos"/>
              </a:rPr>
              <a:t>risk map • path • NCS • TTC
wheel commands • decision reason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74736" y="4553712"/>
            <a:ext cx="3557016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66760" y="4681728"/>
            <a:ext cx="1051560" cy="18288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3570B4"/>
                </a:solidFill>
                <a:latin typeface="Aptos"/>
              </a:rPr>
              <a:t>PROTOTYPE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0" y="4663440"/>
            <a:ext cx="2057400" cy="210312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1C2228"/>
                </a:solidFill>
                <a:latin typeface="Aptos"/>
              </a:rPr>
              <a:t>Browser-based simulation MVP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94192" y="4965192"/>
            <a:ext cx="3108960" cy="274320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0">
                <a:solidFill>
                  <a:srgbClr val="55606B"/>
                </a:solidFill>
                <a:latin typeface="Aptos"/>
              </a:rPr>
              <a:t>Same core software:
SIM • VIDEO • WEBCAM • UGV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0" y="5650992"/>
            <a:ext cx="7159752" cy="521207"/>
          </a:xfrm>
          <a:prstGeom prst="rect">
            <a:avLst/>
          </a:prstGeom>
          <a:solidFill>
            <a:srgbClr val="FFFFFF"/>
          </a:solidFill>
          <a:ln w="16510">
            <a:solidFill>
              <a:srgbClr val="357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736592" y="5760720"/>
            <a:ext cx="1207008" cy="173736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200" b="1" dirty="0">
                <a:solidFill>
                  <a:srgbClr val="3570B4"/>
                </a:solidFill>
                <a:latin typeface="Aptos"/>
              </a:rPr>
              <a:t>IMPLEMENTATION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16752" y="5733288"/>
            <a:ext cx="5440680" cy="246888"/>
          </a:xfrm>
          <a:prstGeom prst="rect">
            <a:avLst/>
          </a:prstGeom>
          <a:noFill/>
        </p:spPr>
        <p:txBody>
          <a:bodyPr wrap="none" lIns="36576" tIns="18288" rIns="36576" bIns="18288" anchor="ctr">
            <a:spAutoFit/>
          </a:bodyPr>
          <a:lstStyle/>
          <a:p>
            <a:pPr algn="ctr"/>
            <a:r>
              <a:rPr sz="1050" b="1">
                <a:solidFill>
                  <a:srgbClr val="1C2228"/>
                </a:solidFill>
                <a:latin typeface="Aptos"/>
              </a:rPr>
              <a:t>1. Sim world  →  2. Perception  →  3. Risk + localization  →  4. Planning + TTC  →  5. Benchmark</a:t>
            </a:r>
          </a:p>
        </p:txBody>
      </p:sp>
    </p:spTree>
    <p:extLst>
      <p:ext uri="{BB962C8B-B14F-4D97-AF65-F5344CB8AC3E}">
        <p14:creationId xmlns:p14="http://schemas.microsoft.com/office/powerpoint/2010/main" val="317277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32004"/>
            <a:ext cx="12124944" cy="6793992"/>
          </a:xfrm>
          <a:prstGeom prst="rect">
            <a:avLst/>
          </a:prstGeom>
          <a:noFill/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48840" y="246888"/>
            <a:ext cx="7040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41414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78992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464B50"/>
                </a:solidFill>
                <a:latin typeface="Arial"/>
              </a:defRPr>
            </a:pPr>
            <a:r>
              <a:t>Feasibility of VISTRA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78992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Georgia"/>
              </a:defRPr>
            </a:pPr>
            <a:r>
              <a:t>Potential Challenges &amp; 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960120"/>
            <a:ext cx="10972" cy="498348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121408" y="2468880"/>
            <a:ext cx="1444752" cy="1243584"/>
          </a:xfrm>
          <a:prstGeom prst="ellipse">
            <a:avLst/>
          </a:prstGeom>
          <a:solidFill>
            <a:srgbClr val="414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41448" y="2798064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68296" y="3063240"/>
            <a:ext cx="164592" cy="256032"/>
          </a:xfrm>
          <a:prstGeom prst="ellipse">
            <a:avLst/>
          </a:prstGeom>
          <a:solidFill>
            <a:srgbClr val="266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127248" y="3063240"/>
            <a:ext cx="164592" cy="256032"/>
          </a:xfrm>
          <a:prstGeom prst="ellipse">
            <a:avLst/>
          </a:prstGeom>
          <a:solidFill>
            <a:srgbClr val="2668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24912" y="2587752"/>
            <a:ext cx="210312" cy="2103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8368" y="1536192"/>
            <a:ext cx="1874519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tIns="50292" rIns="82296" bIns="41148" rtlCol="0" anchor="ctr"/>
          <a:lstStyle/>
          <a:p>
            <a:pPr algn="ctr">
              <a:spcAft>
                <a:spcPts val="100"/>
              </a:spcAft>
              <a:defRPr sz="940" b="1">
                <a:solidFill>
                  <a:srgbClr val="E89437"/>
                </a:solidFill>
                <a:latin typeface="Arial"/>
              </a:defRPr>
            </a:pPr>
            <a:r>
              <a:t>LIGHTWEIGHT AI</a:t>
            </a:r>
          </a:p>
          <a:p>
            <a:pPr algn="ctr">
              <a:lnSpc>
                <a:spcPct val="90000"/>
              </a:lnSpc>
              <a:defRPr sz="740">
                <a:solidFill>
                  <a:srgbClr val="464B50"/>
                </a:solidFill>
                <a:latin typeface="Arial"/>
              </a:defRPr>
            </a:pPr>
            <a:r>
              <a:t>SegFormer-B0 + ONNX Runtime</a:t>
            </a:r>
            <a:br/>
            <a:r>
              <a:t>for efficient terrain segmentation.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9312" y="1536192"/>
            <a:ext cx="1874519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668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tIns="50292" rIns="82296" bIns="41148" rtlCol="0" anchor="ctr"/>
          <a:lstStyle/>
          <a:p>
            <a:pPr algn="ctr">
              <a:spcAft>
                <a:spcPts val="100"/>
              </a:spcAft>
              <a:defRPr sz="940" b="1">
                <a:solidFill>
                  <a:srgbClr val="26689C"/>
                </a:solidFill>
                <a:latin typeface="Arial"/>
              </a:defRPr>
            </a:pPr>
            <a:r>
              <a:t>GPS-DENIED VO</a:t>
            </a:r>
          </a:p>
          <a:p>
            <a:pPr algn="ctr">
              <a:lnSpc>
                <a:spcPct val="90000"/>
              </a:lnSpc>
              <a:defRPr sz="740">
                <a:solidFill>
                  <a:srgbClr val="464B50"/>
                </a:solidFill>
                <a:latin typeface="Arial"/>
              </a:defRPr>
            </a:pPr>
            <a:r>
              <a:t>Stereo VO + EKF bridges visual</a:t>
            </a:r>
            <a:br/>
            <a:r>
              <a:t>dropouts and provides pose confidence.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22191"/>
            <a:ext cx="1874519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C3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tIns="50292" rIns="82296" bIns="41148" rtlCol="0" anchor="ctr"/>
          <a:lstStyle/>
          <a:p>
            <a:pPr algn="ctr">
              <a:spcAft>
                <a:spcPts val="100"/>
              </a:spcAft>
              <a:defRPr sz="940" b="1">
                <a:solidFill>
                  <a:srgbClr val="DDC326"/>
                </a:solidFill>
                <a:latin typeface="Arial"/>
              </a:defRPr>
            </a:pPr>
            <a:r>
              <a:t>REALISTIC VALIDATION</a:t>
            </a:r>
          </a:p>
          <a:p>
            <a:pPr algn="ctr">
              <a:lnSpc>
                <a:spcPct val="90000"/>
              </a:lnSpc>
              <a:defRPr sz="740">
                <a:solidFill>
                  <a:srgbClr val="464B50"/>
                </a:solidFill>
                <a:latin typeface="Arial"/>
              </a:defRPr>
            </a:pPr>
            <a:r>
              <a:t>Gazebo closed-loop tests plus</a:t>
            </a:r>
            <a:br/>
            <a:r>
              <a:t>real outdoor video and seeded scenarios.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9312" y="3822191"/>
            <a:ext cx="1874519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1A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tIns="50292" rIns="82296" bIns="41148" rtlCol="0" anchor="ctr"/>
          <a:lstStyle/>
          <a:p>
            <a:pPr algn="ctr">
              <a:spcAft>
                <a:spcPts val="100"/>
              </a:spcAft>
              <a:defRPr sz="940" b="1">
                <a:solidFill>
                  <a:srgbClr val="71AE37"/>
                </a:solidFill>
                <a:latin typeface="Arial"/>
              </a:defRPr>
            </a:pPr>
            <a:r>
              <a:t>SAFE NAVIGATION</a:t>
            </a:r>
          </a:p>
          <a:p>
            <a:pPr algn="ctr">
              <a:lnSpc>
                <a:spcPct val="90000"/>
              </a:lnSpc>
              <a:defRPr sz="740">
                <a:solidFill>
                  <a:srgbClr val="464B50"/>
                </a:solidFill>
                <a:latin typeface="Arial"/>
              </a:defRPr>
            </a:pPr>
            <a:r>
              <a:t>D* Lite + DWA + TTC layer</a:t>
            </a:r>
            <a:br/>
            <a:r>
              <a:t>converts risk into safe motion.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800600"/>
            <a:ext cx="233172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6A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2296" tIns="50292" rIns="82296" bIns="41148" rtlCol="0" anchor="ctr"/>
          <a:lstStyle/>
          <a:p>
            <a:pPr algn="ctr">
              <a:spcAft>
                <a:spcPts val="100"/>
              </a:spcAft>
              <a:defRPr sz="940" b="1">
                <a:solidFill>
                  <a:srgbClr val="36ABC6"/>
                </a:solidFill>
                <a:latin typeface="Arial"/>
              </a:defRPr>
            </a:pPr>
            <a:r>
              <a:t>RISK-AWARE MAP</a:t>
            </a:r>
          </a:p>
          <a:p>
            <a:pPr algn="ctr">
              <a:lnSpc>
                <a:spcPct val="90000"/>
              </a:lnSpc>
              <a:defRPr sz="740">
                <a:solidFill>
                  <a:srgbClr val="464B50"/>
                </a:solidFill>
                <a:latin typeface="Arial"/>
              </a:defRPr>
            </a:pPr>
            <a:r>
              <a:t>BEV map fuses traversability, uncertainty</a:t>
            </a:r>
            <a:br/>
            <a:r>
              <a:t>and pose covariance.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32888" y="2286000"/>
            <a:ext cx="164592" cy="201168"/>
          </a:xfrm>
          <a:prstGeom prst="line">
            <a:avLst/>
          </a:prstGeom>
          <a:ln w="1270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337560" y="2286000"/>
            <a:ext cx="301752" cy="347472"/>
          </a:xfrm>
          <a:prstGeom prst="line">
            <a:avLst/>
          </a:prstGeom>
          <a:ln w="1270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532888" y="3703320"/>
            <a:ext cx="164592" cy="118871"/>
          </a:xfrm>
          <a:prstGeom prst="line">
            <a:avLst/>
          </a:prstGeom>
          <a:ln w="1270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246120" y="3675887"/>
            <a:ext cx="393192" cy="146304"/>
          </a:xfrm>
          <a:prstGeom prst="line">
            <a:avLst/>
          </a:prstGeom>
          <a:ln w="1270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907792" y="3721608"/>
            <a:ext cx="265176" cy="1078992"/>
          </a:xfrm>
          <a:prstGeom prst="line">
            <a:avLst/>
          </a:prstGeom>
          <a:ln w="12700">
            <a:solidFill>
              <a:srgbClr val="BEC6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19088" y="1444752"/>
            <a:ext cx="1508760" cy="74980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60">
                <a:solidFill>
                  <a:srgbClr val="464B50"/>
                </a:solidFill>
                <a:latin typeface="Arial"/>
              </a:defRPr>
            </a:pPr>
            <a:r>
              <a:t>SLAM integration</a:t>
            </a:r>
            <a:br/>
            <a:r>
              <a:t>may consume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1444752"/>
            <a:ext cx="1508760" cy="74980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60">
                <a:solidFill>
                  <a:srgbClr val="464B50"/>
                </a:solidFill>
                <a:latin typeface="Arial"/>
              </a:defRPr>
            </a:pPr>
            <a:r>
              <a:t>Sim-to-real</a:t>
            </a:r>
            <a:br/>
            <a:r>
              <a:t>perception gap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1444752"/>
            <a:ext cx="1508760" cy="74980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60">
                <a:solidFill>
                  <a:srgbClr val="464B50"/>
                </a:solidFill>
                <a:latin typeface="Arial"/>
              </a:defRPr>
            </a:pPr>
            <a:r>
              <a:t>Ditch / negative-</a:t>
            </a:r>
            <a:br/>
            <a:r>
              <a:t>obstacle recall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42048" y="2359152"/>
            <a:ext cx="1645920" cy="74980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60">
                <a:solidFill>
                  <a:srgbClr val="464B50"/>
                </a:solidFill>
                <a:latin typeface="Arial"/>
              </a:defRPr>
            </a:pPr>
            <a:r>
              <a:t>High end-to-end</a:t>
            </a:r>
            <a:br/>
            <a:r>
              <a:t>latency can affect TTC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359152"/>
            <a:ext cx="1645920" cy="74980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60">
                <a:solidFill>
                  <a:srgbClr val="464B50"/>
                </a:solidFill>
                <a:latin typeface="Arial"/>
              </a:defRPr>
            </a:pPr>
            <a:r>
              <a:t>Scope creep and</a:t>
            </a:r>
            <a:br/>
            <a:r>
              <a:t>metric overfitting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364992"/>
            <a:ext cx="4937760" cy="10972"/>
          </a:xfrm>
          <a:prstGeom prst="rect">
            <a:avLst/>
          </a:prstGeom>
          <a:solidFill>
            <a:srgbClr val="CDC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3493008"/>
            <a:ext cx="5074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Georgia"/>
              </a:defRPr>
            </a:pPr>
            <a:r>
              <a:t>Strategies to Overcome Challenges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3913632"/>
            <a:ext cx="1554480" cy="84124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>
                <a:solidFill>
                  <a:srgbClr val="464B50"/>
                </a:solidFill>
                <a:latin typeface="Arial"/>
              </a:defRPr>
            </a:pPr>
            <a:r>
              <a:t>Time-box SLAM;</a:t>
            </a:r>
            <a:br/>
            <a:r>
              <a:t>keep OpenCV + EKF</a:t>
            </a:r>
            <a:br/>
            <a:r>
              <a:t>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913632"/>
            <a:ext cx="1554480" cy="84124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>
                <a:solidFill>
                  <a:srgbClr val="464B50"/>
                </a:solidFill>
                <a:latin typeface="Arial"/>
              </a:defRPr>
            </a:pPr>
            <a:r>
              <a:t>Fine-tune on</a:t>
            </a:r>
            <a:br/>
            <a:r>
              <a:t>sim + real-video</a:t>
            </a:r>
            <a:br/>
            <a:r>
              <a:t>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7232" y="3913632"/>
            <a:ext cx="1554480" cy="84124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>
                <a:solidFill>
                  <a:srgbClr val="464B50"/>
                </a:solidFill>
                <a:latin typeface="Arial"/>
              </a:defRPr>
            </a:pPr>
            <a:r>
              <a:t>Use uncertainty +</a:t>
            </a:r>
            <a:br/>
            <a:r>
              <a:t>geometry to raise</a:t>
            </a:r>
            <a:br/>
            <a: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42048" y="4919472"/>
            <a:ext cx="1645920" cy="84124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>
                <a:solidFill>
                  <a:srgbClr val="464B50"/>
                </a:solidFill>
                <a:latin typeface="Arial"/>
              </a:defRPr>
            </a:pPr>
            <a:r>
              <a:t>Measure latency;</a:t>
            </a:r>
            <a:br/>
            <a:r>
              <a:t>include it in</a:t>
            </a:r>
            <a:br/>
            <a:r>
              <a:t>stopping time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4919472"/>
            <a:ext cx="1645920" cy="841248"/>
          </a:xfrm>
          <a:prstGeom prst="roundRect">
            <a:avLst/>
          </a:prstGeom>
          <a:solidFill>
            <a:srgbClr val="E2EFF8"/>
          </a:solidFill>
          <a:ln w="15240">
            <a:solidFill>
              <a:srgbClr val="258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850">
                <a:solidFill>
                  <a:srgbClr val="464B50"/>
                </a:solidFill>
                <a:latin typeface="Arial"/>
              </a:defRPr>
            </a:pPr>
            <a:r>
              <a:t>Freeze scope;</a:t>
            </a:r>
            <a:br/>
            <a:r>
              <a:t>seeded tests +</a:t>
            </a:r>
            <a:br/>
            <a:r>
              <a:t>held-out sets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5347" y="5897880"/>
            <a:ext cx="5378395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30" b="1">
                <a:solidFill>
                  <a:srgbClr val="26689C"/>
                </a:solidFill>
                <a:latin typeface="Arial"/>
              </a:defRPr>
            </a:pPr>
            <a:r>
              <a:rPr sz="900" dirty="0"/>
              <a:t>Evidence: baseline comparison • seeded scenarios • ablations • FPS/latency • recovery metrics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" y="6382512"/>
            <a:ext cx="12124944" cy="438912"/>
          </a:xfrm>
          <a:prstGeom prst="rect">
            <a:avLst/>
          </a:prstGeom>
          <a:solidFill>
            <a:srgbClr val="258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81553" y="6492240"/>
            <a:ext cx="23984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rPr sz="1100" dirty="0"/>
              <a:t>@SIH Idea submission- </a:t>
            </a:r>
            <a:r>
              <a:rPr lang="en-US" sz="1100" dirty="0"/>
              <a:t>NEXORAS</a:t>
            </a:r>
            <a:endParaRPr sz="1100" dirty="0"/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grpSp>
        <p:nvGrpSpPr>
          <p:cNvPr id="40" name="Group 13">
            <a:extLst>
              <a:ext uri="{FF2B5EF4-FFF2-40B4-BE49-F238E27FC236}">
                <a16:creationId xmlns:a16="http://schemas.microsoft.com/office/drawing/2014/main" id="{A1B1F472-974D-5503-AA58-78115958FC34}"/>
              </a:ext>
            </a:extLst>
          </p:cNvPr>
          <p:cNvGrpSpPr/>
          <p:nvPr/>
        </p:nvGrpSpPr>
        <p:grpSpPr>
          <a:xfrm>
            <a:off x="93501" y="82296"/>
            <a:ext cx="1900805" cy="1043287"/>
            <a:chOff x="-13204" y="-22845"/>
            <a:chExt cx="2534408" cy="1654795"/>
          </a:xfrm>
        </p:grpSpPr>
        <p:sp>
          <p:nvSpPr>
            <p:cNvPr id="41" name="Freeform 14" descr="Your startup LOGO">
              <a:extLst>
                <a:ext uri="{FF2B5EF4-FFF2-40B4-BE49-F238E27FC236}">
                  <a16:creationId xmlns:a16="http://schemas.microsoft.com/office/drawing/2014/main" id="{67685EC5-ABB8-4B3F-7F21-9E8E3F291AC5}"/>
                </a:ext>
              </a:extLst>
            </p:cNvPr>
            <p:cNvSpPr/>
            <p:nvPr/>
          </p:nvSpPr>
          <p:spPr>
            <a:xfrm>
              <a:off x="0" y="0"/>
              <a:ext cx="2521204" cy="1631950"/>
            </a:xfrm>
            <a:custGeom>
              <a:avLst/>
              <a:gdLst/>
              <a:ahLst/>
              <a:cxnLst/>
              <a:rect l="l" t="t" r="r" b="b"/>
              <a:pathLst>
                <a:path w="2521204" h="1631950">
                  <a:moveTo>
                    <a:pt x="0" y="815975"/>
                  </a:moveTo>
                  <a:cubicBezTo>
                    <a:pt x="0" y="365379"/>
                    <a:pt x="564388" y="0"/>
                    <a:pt x="1260602" y="0"/>
                  </a:cubicBezTo>
                  <a:cubicBezTo>
                    <a:pt x="1956816" y="0"/>
                    <a:pt x="2521204" y="365379"/>
                    <a:pt x="2521204" y="815975"/>
                  </a:cubicBezTo>
                  <a:cubicBezTo>
                    <a:pt x="2521204" y="1266571"/>
                    <a:pt x="1956816" y="1631950"/>
                    <a:pt x="1260602" y="1631950"/>
                  </a:cubicBezTo>
                  <a:cubicBezTo>
                    <a:pt x="564388" y="1631950"/>
                    <a:pt x="0" y="1266698"/>
                    <a:pt x="0" y="815975"/>
                  </a:cubicBezTo>
                  <a:close/>
                </a:path>
              </a:pathLst>
            </a:custGeom>
            <a:solidFill>
              <a:srgbClr val="FFFFFF"/>
            </a:solidFill>
            <a:ln w="12905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42" name="TextBox 15">
              <a:extLst>
                <a:ext uri="{FF2B5EF4-FFF2-40B4-BE49-F238E27FC236}">
                  <a16:creationId xmlns:a16="http://schemas.microsoft.com/office/drawing/2014/main" id="{3FCCFD87-11AF-0851-F425-D0557CB01FE6}"/>
                </a:ext>
              </a:extLst>
            </p:cNvPr>
            <p:cNvSpPr txBox="1"/>
            <p:nvPr/>
          </p:nvSpPr>
          <p:spPr>
            <a:xfrm>
              <a:off x="-13204" y="-22845"/>
              <a:ext cx="2521090" cy="164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8"/>
                </a:lnSpc>
              </a:pPr>
              <a:r>
                <a:rPr lang="en-US" sz="2032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NEXORAS</a:t>
              </a:r>
            </a:p>
          </p:txBody>
        </p:sp>
      </p:grpSp>
      <p:pic>
        <p:nvPicPr>
          <p:cNvPr id="46" name="Picture 45" descr="image.png">
            <a:extLst>
              <a:ext uri="{FF2B5EF4-FFF2-40B4-BE49-F238E27FC236}">
                <a16:creationId xmlns:a16="http://schemas.microsoft.com/office/drawing/2014/main" id="{8F5FD4C4-6498-A14A-E079-03121F080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96699"/>
            <a:ext cx="2194560" cy="8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563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04" y="32004"/>
            <a:ext cx="12124944" cy="6793992"/>
          </a:xfrm>
          <a:prstGeom prst="rect">
            <a:avLst/>
          </a:prstGeom>
          <a:noFill/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28600"/>
            <a:ext cx="7132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91919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3097" y="997458"/>
            <a:ext cx="10972" cy="5029200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42415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50" b="1">
                <a:solidFill>
                  <a:srgbClr val="4B4D50"/>
                </a:solidFill>
                <a:latin typeface="Arial"/>
              </a:defRPr>
            </a:pPr>
            <a:r>
              <a:t>Benefits of VISTRA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572768"/>
            <a:ext cx="1078992" cy="731520"/>
          </a:xfrm>
          <a:prstGeom prst="roundRect">
            <a:avLst/>
          </a:prstGeom>
          <a:solidFill>
            <a:srgbClr val="91C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72384" y="1572768"/>
            <a:ext cx="1078992" cy="731520"/>
          </a:xfrm>
          <a:prstGeom prst="roundRect">
            <a:avLst/>
          </a:prstGeom>
          <a:solidFill>
            <a:srgbClr val="44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688336"/>
            <a:ext cx="1078992" cy="731520"/>
          </a:xfrm>
          <a:prstGeom prst="roundRect">
            <a:avLst/>
          </a:prstGeom>
          <a:solidFill>
            <a:srgbClr val="EBC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2688336"/>
            <a:ext cx="1078992" cy="731520"/>
          </a:xfrm>
          <a:prstGeom prst="roundRect">
            <a:avLst/>
          </a:prstGeom>
          <a:solidFill>
            <a:srgbClr val="2DA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FFFFFF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Oval 11"/>
          <p:cNvSpPr/>
          <p:nvPr/>
        </p:nvSpPr>
        <p:spPr>
          <a:xfrm>
            <a:off x="2468880" y="2039112"/>
            <a:ext cx="950976" cy="950976"/>
          </a:xfrm>
          <a:prstGeom prst="ellipse">
            <a:avLst/>
          </a:prstGeom>
          <a:solidFill>
            <a:srgbClr val="4B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Georgia"/>
              </a:defRPr>
            </a:pPr>
            <a:r>
              <a:t>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034" y="1389888"/>
            <a:ext cx="139814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1C22D"/>
                </a:solidFill>
                <a:latin typeface="Arial"/>
              </a:defRPr>
            </a:pPr>
            <a:r>
              <a:rPr sz="1200" dirty="0"/>
              <a:t>Safer 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8631" y="1709927"/>
            <a:ext cx="1867560" cy="674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050" dirty="0"/>
              <a:t>Risk-aware planning and TTC</a:t>
            </a:r>
            <a:br>
              <a:rPr lang="en-US" sz="1050" dirty="0"/>
            </a:br>
            <a:r>
              <a:rPr sz="1050" dirty="0"/>
              <a:t> safety</a:t>
            </a:r>
            <a:r>
              <a:rPr lang="en-US" sz="1050" dirty="0"/>
              <a:t> </a:t>
            </a:r>
            <a:r>
              <a:rPr sz="1050" dirty="0"/>
              <a:t>reduce </a:t>
            </a:r>
            <a:br>
              <a:rPr lang="en-US" sz="1050" dirty="0"/>
            </a:br>
            <a:r>
              <a:rPr sz="1050" dirty="0"/>
              <a:t>collision exposure.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338" y="1389888"/>
            <a:ext cx="151426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4BE7E"/>
                </a:solidFill>
                <a:latin typeface="Arial"/>
              </a:defRPr>
            </a:pPr>
            <a:r>
              <a:rPr sz="1200" dirty="0"/>
              <a:t>Robust Autonomy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6805" y="1812036"/>
            <a:ext cx="1845377" cy="528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050" dirty="0"/>
              <a:t>Confidence-gated behavior </a:t>
            </a:r>
            <a:br>
              <a:rPr lang="en-US" sz="1050" dirty="0"/>
            </a:br>
            <a:r>
              <a:rPr sz="1050" dirty="0"/>
              <a:t>slows,</a:t>
            </a:r>
            <a:r>
              <a:rPr lang="en-US" sz="1050" dirty="0"/>
              <a:t> </a:t>
            </a:r>
            <a:r>
              <a:rPr sz="1050" dirty="0"/>
              <a:t>recovers and</a:t>
            </a:r>
            <a:br>
              <a:rPr lang="en-US" sz="1050" dirty="0"/>
            </a:br>
            <a:r>
              <a:rPr sz="1050" dirty="0"/>
              <a:t> safe-stops when uncertain.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9144" y="2729853"/>
            <a:ext cx="181011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EBCD23"/>
                </a:solidFill>
                <a:latin typeface="Arial"/>
              </a:defRPr>
            </a:pPr>
            <a:r>
              <a:rPr sz="1200" dirty="0"/>
              <a:t>Explainable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" y="3062049"/>
            <a:ext cx="1826141" cy="528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050" dirty="0"/>
              <a:t>Dashboard shows risk,</a:t>
            </a:r>
            <a:br>
              <a:rPr lang="en-US" sz="1050" dirty="0"/>
            </a:br>
            <a:r>
              <a:rPr sz="1050" dirty="0"/>
              <a:t> confidence,</a:t>
            </a:r>
            <a:r>
              <a:rPr lang="en-US" sz="1050" dirty="0"/>
              <a:t> </a:t>
            </a:r>
            <a:r>
              <a:rPr sz="1050" dirty="0"/>
              <a:t>state changes </a:t>
            </a:r>
            <a:br>
              <a:rPr lang="en-US" sz="1050" dirty="0"/>
            </a:br>
            <a:r>
              <a:rPr sz="1050" dirty="0"/>
              <a:t>and replan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5248" y="2825496"/>
            <a:ext cx="15964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DA5CD"/>
                </a:solidFill>
                <a:latin typeface="Arial"/>
              </a:defRPr>
            </a:pPr>
            <a:r>
              <a:rPr sz="1200" dirty="0"/>
              <a:t>Practical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1888" y="3110259"/>
            <a:ext cx="1986441" cy="5286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050" dirty="0"/>
              <a:t>Seeded simulation, real </a:t>
            </a:r>
            <a:br>
              <a:rPr lang="en-US" sz="1050" dirty="0"/>
            </a:br>
            <a:r>
              <a:rPr sz="1050" dirty="0"/>
              <a:t>outdoor video</a:t>
            </a:r>
            <a:r>
              <a:rPr lang="en-US" sz="1050" dirty="0"/>
              <a:t> </a:t>
            </a:r>
            <a:r>
              <a:rPr sz="1050" dirty="0"/>
              <a:t>and baseline </a:t>
            </a:r>
            <a:br>
              <a:rPr lang="en-US" sz="1050" dirty="0"/>
            </a:br>
            <a:r>
              <a:rPr sz="1050" dirty="0"/>
              <a:t>comparison support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4800600" cy="10972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91919"/>
                </a:solidFill>
                <a:latin typeface="Georgia"/>
              </a:defRPr>
            </a:pPr>
            <a:r>
              <a:t>Target Users / Stakeholders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3708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A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DA5CD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97864" y="4937760"/>
            <a:ext cx="0" cy="164592"/>
          </a:xfrm>
          <a:prstGeom prst="line">
            <a:avLst/>
          </a:prstGeom>
          <a:ln w="12700">
            <a:solidFill>
              <a:srgbClr val="9B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9815" y="5129784"/>
            <a:ext cx="7360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2DA5CD"/>
                </a:solidFill>
                <a:latin typeface="Arial"/>
              </a:defRPr>
            </a:pPr>
            <a:r>
              <a:rPr sz="900" dirty="0"/>
              <a:t>UGV</a:t>
            </a:r>
            <a:br>
              <a:rPr sz="900" dirty="0"/>
            </a:br>
            <a:r>
              <a:rPr sz="900" dirty="0"/>
              <a:t>Operators</a:t>
            </a:r>
          </a:p>
        </p:txBody>
      </p:sp>
      <p:sp>
        <p:nvSpPr>
          <p:cNvPr id="26" name="Oval 25"/>
          <p:cNvSpPr/>
          <p:nvPr/>
        </p:nvSpPr>
        <p:spPr>
          <a:xfrm>
            <a:off x="1737360" y="43708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1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18C32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20824" y="4937760"/>
            <a:ext cx="0" cy="164592"/>
          </a:xfrm>
          <a:prstGeom prst="line">
            <a:avLst/>
          </a:prstGeom>
          <a:ln w="12700">
            <a:solidFill>
              <a:srgbClr val="9B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17508" y="5129784"/>
            <a:ext cx="8066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E18C32"/>
                </a:solidFill>
                <a:latin typeface="Arial"/>
              </a:defRPr>
            </a:pPr>
            <a:r>
              <a:rPr sz="900" dirty="0"/>
              <a:t>Autonomy</a:t>
            </a:r>
            <a:br>
              <a:rPr sz="900" dirty="0"/>
            </a:br>
            <a:r>
              <a:rPr sz="900" dirty="0"/>
              <a:t>Developers</a:t>
            </a:r>
          </a:p>
        </p:txBody>
      </p:sp>
      <p:sp>
        <p:nvSpPr>
          <p:cNvPr id="29" name="Oval 28"/>
          <p:cNvSpPr/>
          <p:nvPr/>
        </p:nvSpPr>
        <p:spPr>
          <a:xfrm>
            <a:off x="2560320" y="43708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C5A5A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843784" y="4937760"/>
            <a:ext cx="0" cy="164592"/>
          </a:xfrm>
          <a:prstGeom prst="line">
            <a:avLst/>
          </a:prstGeom>
          <a:ln w="12700">
            <a:solidFill>
              <a:srgbClr val="9B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75734" y="5129784"/>
            <a:ext cx="7360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DC5A5A"/>
                </a:solidFill>
                <a:latin typeface="Arial"/>
              </a:defRPr>
            </a:pPr>
            <a:r>
              <a:rPr sz="900" dirty="0"/>
              <a:t>Safety &amp;</a:t>
            </a:r>
            <a:br>
              <a:rPr sz="900" dirty="0"/>
            </a:br>
            <a:r>
              <a:rPr sz="900" dirty="0"/>
              <a:t>Validation</a:t>
            </a:r>
          </a:p>
        </p:txBody>
      </p:sp>
      <p:sp>
        <p:nvSpPr>
          <p:cNvPr id="32" name="Oval 31"/>
          <p:cNvSpPr/>
          <p:nvPr/>
        </p:nvSpPr>
        <p:spPr>
          <a:xfrm>
            <a:off x="3383280" y="43708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05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70589E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66744" y="4937760"/>
            <a:ext cx="0" cy="164592"/>
          </a:xfrm>
          <a:prstGeom prst="line">
            <a:avLst/>
          </a:prstGeom>
          <a:ln w="12700">
            <a:solidFill>
              <a:srgbClr val="9B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79458" y="5129784"/>
            <a:ext cx="77457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70589E"/>
                </a:solidFill>
                <a:latin typeface="Arial"/>
              </a:defRPr>
            </a:pPr>
            <a:r>
              <a:rPr sz="900" dirty="0"/>
              <a:t>R&amp;D /</a:t>
            </a:r>
            <a:br>
              <a:rPr sz="900" dirty="0"/>
            </a:br>
            <a:r>
              <a:rPr sz="900" dirty="0"/>
              <a:t>Simulation</a:t>
            </a:r>
          </a:p>
        </p:txBody>
      </p:sp>
      <p:sp>
        <p:nvSpPr>
          <p:cNvPr id="35" name="Oval 34"/>
          <p:cNvSpPr/>
          <p:nvPr/>
        </p:nvSpPr>
        <p:spPr>
          <a:xfrm>
            <a:off x="4206240" y="4370832"/>
            <a:ext cx="566928" cy="56692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4B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4BE7E"/>
                </a:solidFill>
                <a:latin typeface="Arial"/>
              </a:defRPr>
            </a:pPr>
            <a:r>
              <a:t>•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489703" y="4937760"/>
            <a:ext cx="0" cy="164592"/>
          </a:xfrm>
          <a:prstGeom prst="line">
            <a:avLst/>
          </a:prstGeom>
          <a:ln w="12700">
            <a:solidFill>
              <a:srgbClr val="9BA0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96007" y="5129784"/>
            <a:ext cx="78739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1">
                <a:solidFill>
                  <a:srgbClr val="44BE7E"/>
                </a:solidFill>
                <a:latin typeface="Arial"/>
              </a:defRPr>
            </a:pPr>
            <a:r>
              <a:rPr sz="900" dirty="0"/>
              <a:t>System</a:t>
            </a:r>
            <a:br>
              <a:rPr sz="900" dirty="0"/>
            </a:br>
            <a:r>
              <a:rPr sz="900" dirty="0"/>
              <a:t>Integrators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024128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  <a:latin typeface="Arial"/>
              </a:defRPr>
            </a:pPr>
            <a:r>
              <a:t>Benefits of the Solution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7662672" y="1737360"/>
          <a:ext cx="2907792" cy="2907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Oval 39"/>
          <p:cNvSpPr/>
          <p:nvPr/>
        </p:nvSpPr>
        <p:spPr>
          <a:xfrm>
            <a:off x="8549640" y="2624328"/>
            <a:ext cx="1143000" cy="1143000"/>
          </a:xfrm>
          <a:prstGeom prst="ellipse">
            <a:avLst/>
          </a:prstGeom>
          <a:solidFill>
            <a:srgbClr val="4B4D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VISTRA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1397" y="1797558"/>
            <a:ext cx="6447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2DA5CD"/>
                </a:solidFill>
                <a:latin typeface="Arial"/>
              </a:defRPr>
            </a:pPr>
            <a:r>
              <a:rPr sz="1200" dirty="0"/>
              <a:t>Safety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6241943" y="2118551"/>
            <a:ext cx="1810111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200" dirty="0"/>
              <a:t>TTC-based predictive</a:t>
            </a:r>
            <a:br>
              <a:rPr lang="en-US" sz="1200" dirty="0"/>
            </a:br>
            <a:r>
              <a:rPr sz="1200" dirty="0"/>
              <a:t> collision</a:t>
            </a:r>
            <a:r>
              <a:rPr lang="en-US" sz="1200" dirty="0"/>
              <a:t> </a:t>
            </a:r>
            <a:r>
              <a:rPr sz="1200" dirty="0"/>
              <a:t>avoidance and</a:t>
            </a:r>
            <a:br>
              <a:rPr lang="en-US" sz="1200" dirty="0"/>
            </a:br>
            <a:r>
              <a:rPr sz="1200" dirty="0"/>
              <a:t> safe-stop behavior.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985" y="1801368"/>
            <a:ext cx="9124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44BE7E"/>
                </a:solidFill>
                <a:latin typeface="Arial"/>
              </a:defRPr>
            </a:pPr>
            <a:r>
              <a:rPr sz="1200" dirty="0"/>
              <a:t>Reliability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19294" y="2097785"/>
            <a:ext cx="2178802" cy="5909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200" dirty="0"/>
              <a:t>Confidence engine, recovery </a:t>
            </a:r>
            <a:br>
              <a:rPr lang="en-US" sz="1200" dirty="0"/>
            </a:br>
            <a:r>
              <a:rPr sz="1200" dirty="0"/>
              <a:t>manager</a:t>
            </a:r>
            <a:r>
              <a:rPr lang="en-US" sz="1200" dirty="0"/>
              <a:t> </a:t>
            </a:r>
            <a:r>
              <a:rPr sz="1200" dirty="0"/>
              <a:t>and pose-aware</a:t>
            </a:r>
            <a:br>
              <a:rPr lang="en-US" sz="1200" dirty="0"/>
            </a:br>
            <a:r>
              <a:rPr sz="1200" dirty="0"/>
              <a:t> risk inflation.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25124" y="4560225"/>
            <a:ext cx="118288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91C22D"/>
                </a:solidFill>
                <a:latin typeface="Arial"/>
              </a:defRPr>
            </a:pPr>
            <a:r>
              <a:rPr sz="1200" dirty="0"/>
              <a:t>Transparency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04121" y="4937760"/>
            <a:ext cx="2988319" cy="4247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defRPr sz="700">
                <a:solidFill>
                  <a:srgbClr val="4B4D50"/>
                </a:solidFill>
                <a:latin typeface="Arial"/>
              </a:defRPr>
            </a:pPr>
            <a:r>
              <a:rPr sz="1200" dirty="0"/>
              <a:t>Live dashboard explains risk, confidence,</a:t>
            </a:r>
            <a:br>
              <a:rPr sz="1200" dirty="0"/>
            </a:br>
            <a:r>
              <a:rPr sz="1200" dirty="0"/>
              <a:t>replans and wheel commands.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47395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8E7F797-DBFD-F369-0B98-E6595B52F45C}"/>
              </a:ext>
            </a:extLst>
          </p:cNvPr>
          <p:cNvSpPr/>
          <p:nvPr/>
        </p:nvSpPr>
        <p:spPr>
          <a:xfrm>
            <a:off x="0" y="6466332"/>
            <a:ext cx="12191695" cy="429768"/>
          </a:xfrm>
          <a:prstGeom prst="rect">
            <a:avLst/>
          </a:prstGeom>
          <a:solidFill>
            <a:srgbClr val="0775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C784F0-4D62-FA55-3A35-1D4867805DB1}"/>
              </a:ext>
            </a:extLst>
          </p:cNvPr>
          <p:cNvSpPr txBox="1"/>
          <p:nvPr/>
        </p:nvSpPr>
        <p:spPr>
          <a:xfrm>
            <a:off x="4416308" y="6517993"/>
            <a:ext cx="4935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NEXORAS</a:t>
            </a: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Picture 53" descr="image.png">
            <a:extLst>
              <a:ext uri="{FF2B5EF4-FFF2-40B4-BE49-F238E27FC236}">
                <a16:creationId xmlns:a16="http://schemas.microsoft.com/office/drawing/2014/main" id="{5944823A-A48F-8271-D6AD-C7FD242DC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7863" y="106680"/>
            <a:ext cx="2194560" cy="896112"/>
          </a:xfrm>
          <a:prstGeom prst="rect">
            <a:avLst/>
          </a:prstGeom>
        </p:spPr>
      </p:pic>
      <p:grpSp>
        <p:nvGrpSpPr>
          <p:cNvPr id="55" name="Group 13">
            <a:extLst>
              <a:ext uri="{FF2B5EF4-FFF2-40B4-BE49-F238E27FC236}">
                <a16:creationId xmlns:a16="http://schemas.microsoft.com/office/drawing/2014/main" id="{4FFFEC41-34C5-41E3-99B5-B913ECC692F8}"/>
              </a:ext>
            </a:extLst>
          </p:cNvPr>
          <p:cNvGrpSpPr/>
          <p:nvPr/>
        </p:nvGrpSpPr>
        <p:grpSpPr>
          <a:xfrm>
            <a:off x="93501" y="82296"/>
            <a:ext cx="2094830" cy="1043287"/>
            <a:chOff x="-13204" y="-22845"/>
            <a:chExt cx="2534408" cy="1654795"/>
          </a:xfrm>
        </p:grpSpPr>
        <p:sp>
          <p:nvSpPr>
            <p:cNvPr id="56" name="Freeform 14" descr="Your startup LOGO">
              <a:extLst>
                <a:ext uri="{FF2B5EF4-FFF2-40B4-BE49-F238E27FC236}">
                  <a16:creationId xmlns:a16="http://schemas.microsoft.com/office/drawing/2014/main" id="{A9741AFE-8D8D-C20C-5414-B02CED902C44}"/>
                </a:ext>
              </a:extLst>
            </p:cNvPr>
            <p:cNvSpPr/>
            <p:nvPr/>
          </p:nvSpPr>
          <p:spPr>
            <a:xfrm>
              <a:off x="0" y="0"/>
              <a:ext cx="2521204" cy="1631950"/>
            </a:xfrm>
            <a:custGeom>
              <a:avLst/>
              <a:gdLst/>
              <a:ahLst/>
              <a:cxnLst/>
              <a:rect l="l" t="t" r="r" b="b"/>
              <a:pathLst>
                <a:path w="2521204" h="1631950">
                  <a:moveTo>
                    <a:pt x="0" y="815975"/>
                  </a:moveTo>
                  <a:cubicBezTo>
                    <a:pt x="0" y="365379"/>
                    <a:pt x="564388" y="0"/>
                    <a:pt x="1260602" y="0"/>
                  </a:cubicBezTo>
                  <a:cubicBezTo>
                    <a:pt x="1956816" y="0"/>
                    <a:pt x="2521204" y="365379"/>
                    <a:pt x="2521204" y="815975"/>
                  </a:cubicBezTo>
                  <a:cubicBezTo>
                    <a:pt x="2521204" y="1266571"/>
                    <a:pt x="1956816" y="1631950"/>
                    <a:pt x="1260602" y="1631950"/>
                  </a:cubicBezTo>
                  <a:cubicBezTo>
                    <a:pt x="564388" y="1631950"/>
                    <a:pt x="0" y="1266698"/>
                    <a:pt x="0" y="815975"/>
                  </a:cubicBezTo>
                  <a:close/>
                </a:path>
              </a:pathLst>
            </a:custGeom>
            <a:solidFill>
              <a:srgbClr val="FFFFFF"/>
            </a:solidFill>
            <a:ln w="12905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409623CC-861E-9BF6-82F8-80F89C047EAE}"/>
                </a:ext>
              </a:extLst>
            </p:cNvPr>
            <p:cNvSpPr txBox="1"/>
            <p:nvPr/>
          </p:nvSpPr>
          <p:spPr>
            <a:xfrm>
              <a:off x="-13204" y="-22845"/>
              <a:ext cx="2521090" cy="164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8"/>
                </a:lnSpc>
              </a:pPr>
              <a:r>
                <a:rPr lang="en-US" sz="2032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NEXORAS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165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524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31720" y="256032"/>
            <a:ext cx="7406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Times New Roman"/>
              </a:defRPr>
            </a:pPr>
            <a:r>
              <a:t>RESEARCH  AND 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389888"/>
            <a:ext cx="540724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Arial"/>
              </a:defRPr>
            </a:pPr>
            <a:r>
              <a:rPr dirty="0"/>
              <a:t>•  Details Links of the reference and research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975BE"/>
                </a:solidFill>
                <a:latin typeface="Arial"/>
              </a:defRPr>
            </a:pPr>
            <a:r>
              <a:t>VERIFIED SOURCES USED BY VISTRA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76272"/>
            <a:ext cx="10561320" cy="10972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04288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1. SegFormer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Xie et al. (2021) | Semantic segmentation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52344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2"/>
              </a:rPr>
              <a:t>https://arxiv.org/abs/2105.15203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54096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2. ORB-SLAM3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Campos et al. (2020) | Visual / visual-inertial SLAM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02152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3"/>
              </a:rPr>
              <a:t>https://arxiv.org/abs/2007.11898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03904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3. D* Lite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Koenig &amp; Likhachev (2002) | Incremental global replanning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 dirty="0">
                <a:solidFill>
                  <a:srgbClr val="004B96"/>
                </a:solidFill>
                <a:latin typeface="Arial"/>
                <a:hlinkClick r:id="rId4"/>
              </a:rPr>
              <a:t>https://ocs.aaai.org/Library/AAAI/2002/aaai02-072.php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53712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4. Dynamic Window Approach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Fox, Burgard &amp; Thrun (1997) | Local collision avoidance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01768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5"/>
              </a:rPr>
              <a:t>https://publications.ri.cmu.edu/the-dynamic-window-approach-to-collision-avoidance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 dirty="0"/>
              <a:t>5. RUGD Dataset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 dirty="0" err="1"/>
              <a:t>Wigness</a:t>
            </a:r>
            <a:r>
              <a:rPr sz="1200" dirty="0"/>
              <a:t> et al. (IROS 2019) | Unstructured outdoor driving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51576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6"/>
              </a:rPr>
              <a:t>https://rugd.vision/pdfs/RUGD_IROS2019.pdf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304288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6. RELLIS-3D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Jiang et al. | Multi-modal off-road robotics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2752344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7"/>
              </a:rPr>
              <a:t>https://github.com/unmannedlab/RELLIS-3D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054096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7. ROS 2 Jazzy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Open Robotics | Robotics middleware and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3502152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8"/>
              </a:rPr>
              <a:t>https://docs.ros.org/en/jazzy/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803904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8. Gazebo Harmonic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Open Robotics | Closed-loop UGV simulation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4251960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>
                <a:solidFill>
                  <a:srgbClr val="004B96"/>
                </a:solidFill>
                <a:latin typeface="Arial"/>
                <a:hlinkClick r:id="rId9"/>
              </a:rPr>
              <a:t>https://gazebosim.org/docs/harmonic/getstarted/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44768" y="4553712"/>
            <a:ext cx="498348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30" b="1">
                <a:latin typeface="Arial"/>
              </a:defRPr>
            </a:pPr>
            <a:r>
              <a:rPr sz="1200"/>
              <a:t>9. ONNX Runtime</a:t>
            </a:r>
          </a:p>
          <a:p>
            <a:pPr>
              <a:defRPr sz="850">
                <a:solidFill>
                  <a:srgbClr val="555555"/>
                </a:solidFill>
                <a:latin typeface="Arial"/>
              </a:defRPr>
            </a:pPr>
            <a:r>
              <a:rPr sz="1200"/>
              <a:t>Microsoft | Model inference/deployment 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5001768"/>
            <a:ext cx="4983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u="sng" dirty="0">
                <a:solidFill>
                  <a:srgbClr val="004B96"/>
                </a:solidFill>
                <a:latin typeface="Arial"/>
                <a:hlinkClick r:id="rId10"/>
              </a:rPr>
              <a:t>https://onnxruntime.ai/docs/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" y="6419088"/>
            <a:ext cx="12191694" cy="438912"/>
          </a:xfrm>
          <a:prstGeom prst="rect">
            <a:avLst/>
          </a:prstGeom>
          <a:solidFill>
            <a:srgbClr val="097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6793" y="6497194"/>
            <a:ext cx="239841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FFFFFF"/>
                </a:solidFill>
                <a:latin typeface="Arial"/>
              </a:defRPr>
            </a:pPr>
            <a:r>
              <a:rPr sz="1100" dirty="0"/>
              <a:t>@SIH Idea submission- </a:t>
            </a:r>
            <a:r>
              <a:rPr lang="en-US" sz="1100" dirty="0"/>
              <a:t>NEXORAS</a:t>
            </a:r>
            <a:endParaRPr sz="1100" dirty="0"/>
          </a:p>
        </p:txBody>
      </p:sp>
      <p:sp>
        <p:nvSpPr>
          <p:cNvPr id="30" name="TextBox 29"/>
          <p:cNvSpPr txBox="1"/>
          <p:nvPr/>
        </p:nvSpPr>
        <p:spPr>
          <a:xfrm>
            <a:off x="11247120" y="6400800"/>
            <a:ext cx="2286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08693A4-0E16-FFC8-DB2D-C03CD79849F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25566"/>
            <a:ext cx="2249850" cy="1062337"/>
          </a:xfrm>
          <a:prstGeom prst="rect">
            <a:avLst/>
          </a:prstGeom>
        </p:spPr>
      </p:pic>
      <p:grpSp>
        <p:nvGrpSpPr>
          <p:cNvPr id="33" name="Group 13">
            <a:extLst>
              <a:ext uri="{FF2B5EF4-FFF2-40B4-BE49-F238E27FC236}">
                <a16:creationId xmlns:a16="http://schemas.microsoft.com/office/drawing/2014/main" id="{CC5112D3-5E43-2025-B108-7D1A07B1B6EB}"/>
              </a:ext>
            </a:extLst>
          </p:cNvPr>
          <p:cNvGrpSpPr/>
          <p:nvPr/>
        </p:nvGrpSpPr>
        <p:grpSpPr>
          <a:xfrm>
            <a:off x="93501" y="82296"/>
            <a:ext cx="2094830" cy="1043287"/>
            <a:chOff x="-13204" y="-22845"/>
            <a:chExt cx="2534408" cy="1654795"/>
          </a:xfrm>
        </p:grpSpPr>
        <p:sp>
          <p:nvSpPr>
            <p:cNvPr id="34" name="Freeform 14" descr="Your startup LOGO">
              <a:extLst>
                <a:ext uri="{FF2B5EF4-FFF2-40B4-BE49-F238E27FC236}">
                  <a16:creationId xmlns:a16="http://schemas.microsoft.com/office/drawing/2014/main" id="{965DE13C-0CC3-C539-0549-6BFFE5EB309E}"/>
                </a:ext>
              </a:extLst>
            </p:cNvPr>
            <p:cNvSpPr/>
            <p:nvPr/>
          </p:nvSpPr>
          <p:spPr>
            <a:xfrm>
              <a:off x="0" y="0"/>
              <a:ext cx="2521204" cy="1631950"/>
            </a:xfrm>
            <a:custGeom>
              <a:avLst/>
              <a:gdLst/>
              <a:ahLst/>
              <a:cxnLst/>
              <a:rect l="l" t="t" r="r" b="b"/>
              <a:pathLst>
                <a:path w="2521204" h="1631950">
                  <a:moveTo>
                    <a:pt x="0" y="815975"/>
                  </a:moveTo>
                  <a:cubicBezTo>
                    <a:pt x="0" y="365379"/>
                    <a:pt x="564388" y="0"/>
                    <a:pt x="1260602" y="0"/>
                  </a:cubicBezTo>
                  <a:cubicBezTo>
                    <a:pt x="1956816" y="0"/>
                    <a:pt x="2521204" y="365379"/>
                    <a:pt x="2521204" y="815975"/>
                  </a:cubicBezTo>
                  <a:cubicBezTo>
                    <a:pt x="2521204" y="1266571"/>
                    <a:pt x="1956816" y="1631950"/>
                    <a:pt x="1260602" y="1631950"/>
                  </a:cubicBezTo>
                  <a:cubicBezTo>
                    <a:pt x="564388" y="1631950"/>
                    <a:pt x="0" y="1266698"/>
                    <a:pt x="0" y="815975"/>
                  </a:cubicBezTo>
                  <a:close/>
                </a:path>
              </a:pathLst>
            </a:custGeom>
            <a:solidFill>
              <a:srgbClr val="FFFFFF"/>
            </a:solidFill>
            <a:ln w="12905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23CD8EA1-DD13-849B-FD10-3DB288453611}"/>
                </a:ext>
              </a:extLst>
            </p:cNvPr>
            <p:cNvSpPr txBox="1"/>
            <p:nvPr/>
          </p:nvSpPr>
          <p:spPr>
            <a:xfrm>
              <a:off x="-13204" y="-22845"/>
              <a:ext cx="2521090" cy="164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38"/>
                </a:lnSpc>
              </a:pPr>
              <a:r>
                <a:rPr lang="en-US" sz="2032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NEXORAS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33FBBC76-D744-28DA-33A9-2B3BD340A95E}"/>
              </a:ext>
            </a:extLst>
          </p:cNvPr>
          <p:cNvSpPr txBox="1"/>
          <p:nvPr/>
        </p:nvSpPr>
        <p:spPr>
          <a:xfrm>
            <a:off x="6515100" y="5362051"/>
            <a:ext cx="4095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MVP link: https://vistara-blue.vercel.app/ </a:t>
            </a:r>
            <a:endParaRPr lang="en-IN" sz="16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27C8A9-3B82-9075-ADAB-BAC69C3D53F8}"/>
              </a:ext>
            </a:extLst>
          </p:cNvPr>
          <p:cNvSpPr txBox="1"/>
          <p:nvPr/>
        </p:nvSpPr>
        <p:spPr>
          <a:xfrm>
            <a:off x="6515100" y="5751576"/>
            <a:ext cx="55148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github</a:t>
            </a:r>
            <a:r>
              <a:rPr lang="en-US" sz="1600" dirty="0"/>
              <a:t> Repo link : https://github.com/Zerovion/SIH_26126  </a:t>
            </a:r>
            <a:endParaRPr lang="en-IN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5F7667-E735-7D55-FA2B-6D43656B2DEF}"/>
              </a:ext>
            </a:extLst>
          </p:cNvPr>
          <p:cNvSpPr txBox="1"/>
          <p:nvPr/>
        </p:nvSpPr>
        <p:spPr>
          <a:xfrm>
            <a:off x="10363200" y="2743200"/>
            <a:ext cx="1666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Additional Reference Link </a:t>
            </a:r>
            <a:endParaRPr lang="en-IN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5C48920-61A4-C3D8-F520-D93C2790B33D}"/>
              </a:ext>
            </a:extLst>
          </p:cNvPr>
          <p:cNvSpPr/>
          <p:nvPr/>
        </p:nvSpPr>
        <p:spPr>
          <a:xfrm>
            <a:off x="10380477" y="3457575"/>
            <a:ext cx="1561961" cy="14492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323D3-5CE6-27DE-AB94-0D85353438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87457" y="3408048"/>
            <a:ext cx="1548000" cy="15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803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7632</TotalTime>
  <Words>1073</Words>
  <Application>Microsoft Office PowerPoint</Application>
  <PresentationFormat>Widescreen</PresentationFormat>
  <Paragraphs>220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Garamond</vt:lpstr>
      <vt:lpstr>Georgia</vt:lpstr>
      <vt:lpstr>Times New Roman</vt:lpstr>
      <vt:lpstr>Times New Roman Bold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aman pathan</cp:lastModifiedBy>
  <cp:revision>156</cp:revision>
  <dcterms:created xsi:type="dcterms:W3CDTF">2013-12-12T18:46:50Z</dcterms:created>
  <dcterms:modified xsi:type="dcterms:W3CDTF">2026-09-30T17:02:49Z</dcterms:modified>
  <cp:category/>
</cp:coreProperties>
</file>