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105.15203" TargetMode="External"/><Relationship Id="rId3" Type="http://schemas.openxmlformats.org/officeDocument/2006/relationships/hyperlink" Target="https://huggingface.co/docs/transformers/main/model_doc/segforme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007.11898" TargetMode="External"/><Relationship Id="rId3" Type="http://schemas.openxmlformats.org/officeDocument/2006/relationships/hyperlink" Target="https://docs.ros.org/en/jazzy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lications.ri.cmu.edu/d-lite" TargetMode="External"/><Relationship Id="rId3" Type="http://schemas.openxmlformats.org/officeDocument/2006/relationships/hyperlink" Target="https://publications.ri.cmu.edu/the-dynamic-window-approach-to-collision-avoidance" TargetMode="External"/><Relationship Id="rId4" Type="http://schemas.openxmlformats.org/officeDocument/2006/relationships/hyperlink" Target="https://gazebosim.org/docs/harmonic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ugd.vision/pdfs/RUGD_IROS2019.pdf" TargetMode="External"/><Relationship Id="rId3" Type="http://schemas.openxmlformats.org/officeDocument/2006/relationships/hyperlink" Target="https://github.com/unmannedlab/RELLIS-3D" TargetMode="External"/><Relationship Id="rId4" Type="http://schemas.openxmlformats.org/officeDocument/2006/relationships/hyperlink" Target="https://onnxruntime.ai/docs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" TargetMode="External"/><Relationship Id="rId3" Type="http://schemas.openxmlformats.org/officeDocument/2006/relationships/hyperlink" Target="https://docs.cvat.ai/docs/getting_started/overview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zebosim.org/docs/harmonic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el-india.in/homepage/" TargetMode="External"/><Relationship Id="rId3" Type="http://schemas.openxmlformats.org/officeDocument/2006/relationships/hyperlink" Target="https://docs.ros.org/en/jazzy/" TargetMode="External"/><Relationship Id="rId4" Type="http://schemas.openxmlformats.org/officeDocument/2006/relationships/hyperlink" Target="https://gazebosim.org/docs/harmonic/" TargetMode="External"/><Relationship Id="rId5" Type="http://schemas.openxmlformats.org/officeDocument/2006/relationships/hyperlink" Target="https://arxiv.org/abs/2105.15203" TargetMode="External"/><Relationship Id="rId6" Type="http://schemas.openxmlformats.org/officeDocument/2006/relationships/hyperlink" Target="https://huggingface.co/docs/transformers/main/model_doc/segformer" TargetMode="External"/><Relationship Id="rId7" Type="http://schemas.openxmlformats.org/officeDocument/2006/relationships/hyperlink" Target="https://arxiv.org/abs/2007.11898" TargetMode="External"/><Relationship Id="rId8" Type="http://schemas.openxmlformats.org/officeDocument/2006/relationships/hyperlink" Target="https://publications.ri.cmu.edu/d-lite" TargetMode="External"/><Relationship Id="rId9" Type="http://schemas.openxmlformats.org/officeDocument/2006/relationships/hyperlink" Target="https://publications.ri.cmu.edu/the-dynamic-window-approach-to-collision-avoidance" TargetMode="External"/><Relationship Id="rId10" Type="http://schemas.openxmlformats.org/officeDocument/2006/relationships/hyperlink" Target="https://rugd.vision/pdfs/RUGD_IROS2019.pdf" TargetMode="External"/><Relationship Id="rId11" Type="http://schemas.openxmlformats.org/officeDocument/2006/relationships/hyperlink" Target="https://github.com/unmannedlab/RELLIS-3D" TargetMode="External"/><Relationship Id="rId12" Type="http://schemas.openxmlformats.org/officeDocument/2006/relationships/hyperlink" Target="https://arxiv.org/abs/2011.12954" TargetMode="External"/><Relationship Id="rId13" Type="http://schemas.openxmlformats.org/officeDocument/2006/relationships/hyperlink" Target="https://onnxruntime.ai/docs/" TargetMode="External"/><Relationship Id="rId14" Type="http://schemas.openxmlformats.org/officeDocument/2006/relationships/hyperlink" Target="https://docs.cvat.ai/docs/getting_started/overview/" TargetMode="External"/><Relationship Id="rId15" Type="http://schemas.openxmlformats.org/officeDocument/2006/relationships/hyperlink" Target="https://docs.opencv.org/" TargetMode="External"/><Relationship Id="rId16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6EFF5"/>
                </a:solidFill>
              </a:defRPr>
            </a:pPr>
            <a:r>
              <a:t>VISTRA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40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BB5C4"/>
                </a:solidFill>
              </a:defRPr>
            </a:pPr>
            <a:r>
              <a:t>Vision-based, Self-aware, Traversability- and Risk-aware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4612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31927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PS 26126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64845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Vision-based autonomous navigation for an outdoor UGV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24612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331927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CORE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364845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Uncertainty from perception -&gt; risk -&gt; planner -&gt;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24612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331927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6" y="364845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Seeded simulation + baseline + fault injection + replay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29200"/>
            <a:ext cx="10744200" cy="7315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102352"/>
            <a:ext cx="10488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SOURCE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431536"/>
            <a:ext cx="10488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PS-specific content: supplied VISTRA blueprint. External facts: trusted source register. No unmeasured performance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1 | 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Target: explainable, uncertainty-aware outdoor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990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PS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28216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Lightweight perception</a:t>
            </a:r>
            <a:br/>
            <a:r>
              <a:t>Visual odometry / SLAM</a:t>
            </a:r>
            <a:br/>
            <a:r>
              <a:t>Planning + wheel/motor commands</a:t>
            </a:r>
            <a:br/>
            <a:r>
              <a:t>Collision-free A -&gt;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990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CONVENTIONAL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728216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Detector-only perception can miss untrained hazards</a:t>
            </a:r>
            <a:br/>
            <a:r>
              <a:t>Hard binary maps hide model uncertainty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990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VISTRA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728216"/>
            <a:ext cx="31729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Free-space-first risk map</a:t>
            </a:r>
            <a:br/>
            <a:r>
              <a:t>NCS behavior gate</a:t>
            </a:r>
            <a:br/>
            <a:r>
              <a:t>TTC safety 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092708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136392"/>
            <a:ext cx="10671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EVIDENCE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465576"/>
            <a:ext cx="106710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Baseline vs VISTRA on identical seeds; fault injection for blur/dark/obstacle; structured logs; measured FPS/latency; scenario-level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0927080" cy="8686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28032"/>
            <a:ext cx="10671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157216"/>
            <a:ext cx="1067104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This deck contains no fabricated VISTRA performance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2 |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Camera-first closed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12344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1847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1. 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18470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Camera</a:t>
            </a:r>
            <a:br/>
            <a:r>
              <a:t>SegFormer-B0</a:t>
            </a:r>
            <a:br/>
            <a:r>
              <a:t>Dynamic-object tracking</a:t>
            </a:r>
            <a:br/>
            <a:r>
              <a:t>Input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234440"/>
            <a:ext cx="2103120" cy="12344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1307592"/>
            <a:ext cx="1847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2.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1636776"/>
            <a:ext cx="18470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IPM</a:t>
            </a:r>
            <a:br/>
            <a:r>
              <a:t>Traversability</a:t>
            </a:r>
            <a:br/>
            <a:r>
              <a:t>Entropy</a:t>
            </a:r>
            <a:br/>
            <a:r>
              <a:t>BEV risk +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234440"/>
            <a:ext cx="2103120" cy="12344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307592"/>
            <a:ext cx="1847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3. LOCALIZE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636776"/>
            <a:ext cx="18470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Stereo VO/SLAM</a:t>
            </a:r>
            <a:br/>
            <a:r>
              <a:t>EKF</a:t>
            </a:r>
            <a:br/>
            <a:r>
              <a:t>Pose + covariance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234440"/>
            <a:ext cx="2103120" cy="12344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307592"/>
            <a:ext cx="184708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4.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1636776"/>
            <a:ext cx="18470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D* Lite</a:t>
            </a:r>
            <a:br/>
            <a:r>
              <a:t>DWA</a:t>
            </a:r>
            <a:br/>
            <a:r>
              <a:t>Goal + risk + clearance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234440"/>
            <a:ext cx="1737360" cy="12344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1307592"/>
            <a:ext cx="14813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5.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1636776"/>
            <a:ext cx="14813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TTC</a:t>
            </a:r>
            <a:br/>
            <a:r>
              <a:t>NCS</a:t>
            </a:r>
            <a:br/>
            <a:r>
              <a:t>Recovery</a:t>
            </a:r>
            <a:br/>
            <a:r>
              <a:t>Wheels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10881360" cy="16002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953512"/>
            <a:ext cx="106253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FEEDBACK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282696"/>
            <a:ext cx="106253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Pose covariance inflates risk-map costs; NCS caps speed; localization failure invokes Recovery Manager; planning failure escalates to replan / rotate-search / safe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10881360" cy="10972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828032"/>
            <a:ext cx="1062532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157216"/>
            <a:ext cx="10625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Camera overlay | BEV map | pose/path | NCS | TTC | state/e-stop | structured explanation | replan markers | wheel commands | fault injection | baseline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3 | Risk-aware traversability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Probabilities are retained instead of collapsed to one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CORE FORMULAE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 = sum(p_k * t_k)</a:t>
            </a:r>
            <a:br/>
            <a:r>
              <a:t>U = normalized entropy(p)</a:t>
            </a:r>
            <a:br/>
            <a:r>
              <a:t>R = (1-T) + lambda_u U + lambda_g G + lambda_prox 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BEV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Example: 20 m x 20 m at 0.2 m</a:t>
            </a:r>
            <a:br/>
            <a:r>
              <a:t>= 100 x 100 cells</a:t>
            </a:r>
            <a:br/>
            <a:r>
              <a:t>Temporal log-odds / decay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6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3284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Smooth-drivable; Rough-drivable; Vegetation/non-traversable; Hard obstacle; Water/ditch/negative; Background/sky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260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RISK BANDS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3284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Green &lt;0.25</a:t>
            </a:r>
            <a:br/>
            <a:r>
              <a:t>Yellow &lt;0.5</a:t>
            </a:r>
            <a:br/>
            <a:r>
              <a:t>Orange &lt;0.75</a:t>
            </a:r>
            <a:br/>
            <a:r>
              <a:t>Red &gt;=0.75 or lethal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835640" cy="9601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3659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065776"/>
            <a:ext cx="10579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IPM assumes locally flat ground. Proposed mitigation: IMU pitch/roll compensation and lower weight for far-range cells.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2531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SegFormer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92531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3"/>
              </a:rPr>
              <a:t>SegFormer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4 | Localization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Stereo vision remains primary; degraded states are explicit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PRIMARY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Stereo VO/SLAM + loop-closure</a:t>
            </a:r>
            <a:br/>
            <a:r>
              <a:t>RTAB-Map or ORB-SLAM3</a:t>
            </a:r>
            <a:br/>
            <a:r>
              <a:t>IMU/wheel EKF bridges short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CONFIDENCE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Features; RANSAC inliers; reprojection error; EKF covariance; blur; brightness; feature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2514600" cy="11430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4495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374136"/>
            <a:ext cx="2258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&gt;0.7</a:t>
            </a:r>
            <a:br/>
            <a:r>
              <a:t>nominal speed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971800"/>
            <a:ext cx="2514600" cy="11430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304495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CAUTION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374136"/>
            <a:ext cx="2258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0.4-0.7</a:t>
            </a:r>
            <a:br/>
            <a:r>
              <a:t>slow + inflate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71800"/>
            <a:ext cx="2514600" cy="11430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5" y="304495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5" y="3374136"/>
            <a:ext cx="2258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0.2-0.4</a:t>
            </a:r>
            <a:br/>
            <a:r>
              <a:t>relocalize/re-observe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971800"/>
            <a:ext cx="2743200" cy="11430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0536" y="3044952"/>
            <a:ext cx="2487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SAFE_STOP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374136"/>
            <a:ext cx="2487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&lt;0.2</a:t>
            </a:r>
            <a:br/>
            <a:r>
              <a:t>hold +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835640" cy="105156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55371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RECOVERY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882896"/>
            <a:ext cx="105796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confidence fall -&gt; slow -&gt; stop -&gt; rotate-search -&gt; retrace to last good keyframe -&gt; resume after confidence restoration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2531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ORB-SLAM3 paper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925312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3"/>
              </a:rPr>
              <a:t>ROS 2 Jazzy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5 | Planning + predictive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Global route, local motion and a reactive override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D* Lite</a:t>
            </a:r>
            <a:br/>
            <a:r>
              <a:t>Incremental replanning on risk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DWA</a:t>
            </a:r>
            <a:br/>
            <a:r>
              <a:t>Reachable (v,w)</a:t>
            </a:r>
            <a:br/>
            <a:r>
              <a:t>progress + risk + clearance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TTC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3 s horizon</a:t>
            </a:r>
            <a:br/>
            <a:r>
              <a:t>0.1 s steps</a:t>
            </a:r>
            <a:br/>
            <a:r>
              <a:t>constant-velocity obstacle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303520" cy="18288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STOPPING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328416"/>
            <a:ext cx="50474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tau_stop = t_latency + v/a_max</a:t>
            </a:r>
            <a:br/>
            <a:r>
              <a:t>Latency is measured end-to-end.</a:t>
            </a:r>
            <a:br/>
            <a:r>
              <a:t>Planner mapping:</a:t>
            </a:r>
            <a:br/>
            <a:r>
              <a:t>v_left = v - wL/2</a:t>
            </a:r>
            <a:br/>
            <a:r>
              <a:t>v_right = v + wL/2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303520" cy="18288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STARTING TTC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328416"/>
            <a:ext cx="50474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&gt;3*tau_stop: continue</a:t>
            </a:r>
            <a:br/>
            <a:r>
              <a:t>1.5*tau_stop-3*tau_stop: slow + replan</a:t>
            </a:r>
            <a:br/>
            <a:r>
              <a:t>tau_stop-1.5*tau_stop: hard brake + replan</a:t>
            </a:r>
            <a:br/>
            <a:r>
              <a:t>&lt;=tau_stop: emergency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D*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1206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3"/>
              </a:rPr>
              <a:t>DWA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206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4"/>
              </a:rPr>
              <a:t>Gazebo Harmonic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6 | Data &amp;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Public data for research; held-out real data for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5544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RUGD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3172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7,453 pixel-wise labeled images</a:t>
            </a:r>
            <a:br/>
            <a:r>
              <a:t>Unstructured outdoor robot driving</a:t>
            </a:r>
            <a:br/>
            <a:r>
              <a:t>Irregular boundaries + blur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5544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RELLIS-3D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636776"/>
            <a:ext cx="3172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13,556 LiDAR scans</a:t>
            </a:r>
            <a:br/>
            <a:r>
              <a:t>6,235 images</a:t>
            </a:r>
            <a:br/>
            <a:r>
              <a:t>20-class ontology</a:t>
            </a:r>
            <a:br/>
            <a:r>
              <a:t>Multimodal off-road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5544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SEGFORMER-B0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636776"/>
            <a:ext cx="3172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MiT-B0: 3.7M parameters in HF docs</a:t>
            </a:r>
            <a:br/>
            <a:r>
              <a:t>Project FPS must be measured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TRAIN /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5570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Sequence/location-level splits</a:t>
            </a:r>
            <a:br/>
            <a:r>
              <a:t>Held-out real set never used in training</a:t>
            </a:r>
            <a:br/>
            <a:r>
              <a:t>Hard negatives: shadows, puddles, grass hiding rocks, glare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546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32278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PROJECT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5570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Blueprint plans about 300-500 campus/trail frames</a:t>
            </a:r>
            <a:br/>
            <a:r>
              <a:t>This is a plan, not a completed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92040"/>
            <a:ext cx="10835640" cy="8686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96519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94376"/>
            <a:ext cx="105796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Never import paper metrics into VISTRA result tables.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RUGD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92531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3"/>
              </a:rPr>
              <a:t>RELLIS-3D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9253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4"/>
              </a:rPr>
              <a:t>ONNX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7 | Benchmark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Evidence comes from repeated seeded experiments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28016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317296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11 families: terrain, obstacles, lighting, localization, perception, narrow paths, dead ends, route choice, unknown obstacles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28016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636776"/>
            <a:ext cx="317296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20-30 seeded runs per scenario per system</a:t>
            </a:r>
            <a:br/>
            <a:r>
              <a:t>Mean + confidence interval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28016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636776"/>
            <a:ext cx="317296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YOLOv8 + same VO/SLAM + A* + fixed-distance stop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28269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Success; collisions; path length; time; localization error; path deviation; replans; FPS; latency; NCS trace; recovery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8036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95351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ABLATIONS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28269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A: remove uncertainty term</a:t>
            </a:r>
            <a:br/>
            <a:r>
              <a:t>B: remove confidence governor</a:t>
            </a:r>
            <a:br/>
            <a:r>
              <a:t>C: remove TTC/terrain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835640" cy="9144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3659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65776"/>
            <a:ext cx="10579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If the baseline wins a scenario, report it. Do not fabricate or hide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8 | Dashboard &amp;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The system should show not just what it does, but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PERCEPTION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Camera feed + segmentation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MAP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BEV risk map + global/local path + actual path + 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0759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SAFETY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636776"/>
            <a:ext cx="31729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NCS + components + TTC + speed + state/e-stop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EXPLANATION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3284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time | state | trigger | confidence | speed cap | chosen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303520" cy="14173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99923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328416"/>
            <a:ext cx="50474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Spawn obstacle; blur; darken; camera loss; baseline comparison; replan markers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835640" cy="96012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3659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65776"/>
            <a:ext cx="10579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FastAPI/WebSocket -&gt; React/TypeScript -&gt; 2D canvas/SVG. Offline starter included in Source-Code/Dashboard.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9253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3"/>
              </a:rPr>
              <a:t>CVAT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9 | Risks, limits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Build the core first; protect the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HIGH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SLAM integration time</a:t>
            </a:r>
            <a:br/>
            <a:r>
              <a:t>Sim-to-real gap</a:t>
            </a:r>
            <a:br/>
            <a:r>
              <a:t>Ditch recall</a:t>
            </a:r>
            <a:br/>
            <a:r>
              <a:t>Latency too high for TTC</a:t>
            </a:r>
            <a:br/>
            <a:r>
              <a:t>Scope creep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13716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307592"/>
            <a:ext cx="5047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MITIGATIONS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636776"/>
            <a:ext cx="5047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Time-box SLAM</a:t>
            </a:r>
            <a:br/>
            <a:r>
              <a:t>Separate real-video track</a:t>
            </a:r>
            <a:br/>
            <a:r>
              <a:t>Uncertainty + geometry</a:t>
            </a:r>
            <a:br/>
            <a:r>
              <a:t>Measure end-to-end latency</a:t>
            </a:r>
            <a:br/>
            <a:r>
              <a:t>Freeze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3429000" cy="14630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992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MUST-HAVE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328416"/>
            <a:ext cx="3172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Simulation + vehicle interface</a:t>
            </a:r>
            <a:br/>
            <a:r>
              <a:t>Segmentation + BEV risk</a:t>
            </a:r>
            <a:br/>
            <a:r>
              <a:t>VO + EKF</a:t>
            </a:r>
            <a:br/>
            <a:r>
              <a:t>D* Lite + DWA</a:t>
            </a:r>
            <a:br/>
            <a:r>
              <a:t>TTC + dashboard + benchmark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26080"/>
            <a:ext cx="3429000" cy="14630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9992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328416"/>
            <a:ext cx="3172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NCS</a:t>
            </a:r>
            <a:br/>
            <a:r>
              <a:t>Recovery Manager</a:t>
            </a:r>
            <a:br/>
            <a:r>
              <a:t>Decision log</a:t>
            </a:r>
            <a:br/>
            <a:r>
              <a:t>Fault injector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429000" cy="14630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999232"/>
            <a:ext cx="3172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ADVANCED / OPTIONAL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328416"/>
            <a:ext cx="3172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Relative depth</a:t>
            </a:r>
            <a:br/>
            <a:r>
              <a:t>Moving-object prediction</a:t>
            </a:r>
            <a:br/>
            <a:r>
              <a:t>Live side-by-side</a:t>
            </a:r>
            <a:br/>
            <a:r>
              <a:t>Physical UGV after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0835640" cy="8686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82803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57216"/>
            <a:ext cx="105796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Weeks 1-6: build and freeze core. Weeks 7-10: test, benchmark and rehearse.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4B8E0"/>
                </a:solidFill>
                <a:hlinkClick r:id="rId2"/>
              </a:rPr>
              <a:t>Gazebo Harmonic official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BB5C4"/>
                </a:solidFill>
              </a:defRPr>
            </a:pPr>
            <a:r>
              <a:t>VISTRA | SIH PS 26126 | Detailed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10 | Judge-ready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A simple, observable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3677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No GPS</a:t>
            </a:r>
            <a:br/>
            <a:r>
              <a:t>Empty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3444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6" y="130759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63677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Segmentation</a:t>
            </a:r>
            <a:br/>
            <a:r>
              <a:t>Risk map builds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3444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5" y="130759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5" y="163677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Drive A -&gt; B</a:t>
            </a:r>
            <a:br/>
            <a:r>
              <a:t>Path visible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234440"/>
            <a:ext cx="27432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536" y="1307592"/>
            <a:ext cx="2487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1636776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Obstacle fault</a:t>
            </a:r>
            <a:br/>
            <a:r>
              <a:t>TTC + replan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9923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2841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Blur/dark</a:t>
            </a:r>
            <a:br/>
            <a:r>
              <a:t>NCS drops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292608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5576" y="299923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332841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Recover</a:t>
            </a:r>
            <a:br/>
            <a:r>
              <a:t>Relocalize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926080"/>
            <a:ext cx="25146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5" y="2999232"/>
            <a:ext cx="2258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5" y="3328416"/>
            <a:ext cx="2258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Reach goal</a:t>
            </a:r>
            <a:br/>
            <a:r>
              <a:t>Metrics summary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2926080"/>
            <a:ext cx="2743200" cy="132588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0536" y="2999232"/>
            <a:ext cx="2487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3328416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Baseline</a:t>
            </a:r>
            <a:br/>
            <a:r>
              <a:t>Same seed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10835640" cy="91440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736592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065776"/>
            <a:ext cx="10579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Rosbag replay; pre-rendered full run; recorded-video perception; playback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925312"/>
            <a:ext cx="10835640" cy="320040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998464"/>
            <a:ext cx="105796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6CDDE"/>
                </a:solidFill>
              </a:defRPr>
            </a:pPr>
            <a:r>
              <a:t>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6327648"/>
            <a:ext cx="10579608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6EFF5"/>
                </a:solidFill>
              </a:defRPr>
            </a:pPr>
            <a:r>
              <a:t>B1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FF5"/>
                </a:solidFill>
              </a:defRPr>
            </a:pPr>
            <a:r>
              <a:t>11 | Trusted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B5C4"/>
                </a:solidFill>
              </a:defRPr>
            </a:pPr>
            <a:r>
              <a:t>Click a source label to open the official page or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61872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 | BEL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6187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2"/>
              </a:rPr>
              <a:t>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261872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S2 | ROS 2 Jazzy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26187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3"/>
              </a:rPr>
              <a:t>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55648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2880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S3 | Gazebo Harmonic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4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55648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82880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S4 | SegFormer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828800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5"/>
              </a:rPr>
              <a:t>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22576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395728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S5 | SegFormer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95728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6"/>
              </a:rPr>
              <a:t>OPEN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322576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2395728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S6 | ORB-SLAM3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395728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7"/>
              </a:rPr>
              <a:t>OPEN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889504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962656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S7 | D* 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962656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8"/>
              </a:rPr>
              <a:t>OPEN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889504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2962656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S8 | DWA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62656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9"/>
              </a:rPr>
              <a:t>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456432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529584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S9 | RUGD paper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529584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0"/>
              </a:rPr>
              <a:t>OPEN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456432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3529584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S10 | RELLIS-3D repo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529584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1"/>
              </a:rPr>
              <a:t>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023360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096512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S11 | RELLIS-3D paper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09651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2"/>
              </a:rPr>
              <a:t>OPEN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23360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096512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S12 | ONNX Runtime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09651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3"/>
              </a:rPr>
              <a:t>OPEN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590288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66344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S13 | CVAT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663440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4"/>
              </a:rPr>
              <a:t>OPEN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590288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6208" y="4663440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S14 | OpenCV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663440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5"/>
              </a:rPr>
              <a:t>OPEN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157216"/>
            <a:ext cx="5074920" cy="420624"/>
          </a:xfrm>
          <a:prstGeom prst="roundRect">
            <a:avLst/>
          </a:prstGeom>
          <a:solidFill>
            <a:srgbClr val="0C2638"/>
          </a:solidFill>
          <a:ln>
            <a:solidFill>
              <a:srgbClr val="2D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5230368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E6EFF5"/>
                </a:solidFill>
              </a:defRPr>
            </a:pPr>
            <a:r>
              <a:t>S15 | FastAPI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230368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4B8E0"/>
                </a:solidFill>
                <a:hlinkClick r:id="rId16"/>
              </a:rPr>
              <a:t>OPEN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577840"/>
            <a:ext cx="10835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9BB5C4"/>
                </a:solidFill>
              </a:defRPr>
            </a:pPr>
            <a:r>
              <a:t>PS-specific VISTRA details: supplied blueprint. External facts: source register. Research date: 30 Sep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